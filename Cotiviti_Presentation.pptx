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A1628"/>
                </a:solidFill>
                <a:latin typeface="Arial"/>
              </a:defRPr>
            </a:pPr>
            <a:r>
              <a:rPr sz="1100" b="0" i="0" u="none" strike="noStrike">
                <a:solidFill>
                  <a:srgbClr val="0A1628"/>
                </a:solidFill>
                <a:latin typeface="Arial"/>
              </a:rPr>
              <a:t>Anomaly Rate by Insurer (%)</a:t>
            </a:r>
          </a:p>
        </c:rich>
      </c:tx>
      <c:layout/>
      <c:overlay val="0"/>
    </c:title>
    <c:autoTitleDeleted val="0"/>
    <c:plotArea>
      <c:layout/>
      <c:barChart>
        <c:barDir val="col"/>
        <c:grouping val="clustered"/>
        <c:varyColors val="0"/>
        <c:ser>
          <c:idx val="0"/>
          <c:order val="0"/>
          <c:tx>
            <c:strRef>
              <c:f>Sheet1!$B$1</c:f>
              <c:strCache>
                <c:ptCount val="1"/>
                <c:pt idx="0">
                  <c:v>Anomaly Rate (%)</c:v>
                </c:pt>
              </c:strCache>
            </c:strRef>
          </c:tx>
          <c:spPr>
            <a:solidFill>
              <a:srgbClr val="065A82"/>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065A82"/>
              </a:solidFill>
              <a:effectLst/>
            </c:spPr>
          </c:dPt>
          <c:dPt>
            <c:idx val="1"/>
            <c:invertIfNegative val="0"/>
            <c:bubble3D val="0"/>
            <c:spPr>
              <a:solidFill>
                <a:srgbClr val="1C7293"/>
              </a:solidFill>
              <a:effectLst/>
            </c:spPr>
          </c:dPt>
          <c:dPt>
            <c:idx val="2"/>
            <c:invertIfNegative val="0"/>
            <c:bubble3D val="0"/>
            <c:spPr>
              <a:solidFill>
                <a:srgbClr val="065A82"/>
              </a:solidFill>
              <a:effectLst/>
            </c:spPr>
          </c:dPt>
          <c:dPt>
            <c:idx val="3"/>
            <c:invertIfNegative val="0"/>
            <c:bubble3D val="0"/>
            <c:spPr>
              <a:solidFill>
                <a:srgbClr val="E34948"/>
              </a:solidFill>
              <a:effectLst/>
            </c:spPr>
          </c:dPt>
          <c:dPt>
            <c:idx val="4"/>
            <c:invertIfNegative val="0"/>
            <c:bubble3D val="0"/>
            <c:spPr>
              <a:solidFill>
                <a:srgbClr val="1C7293"/>
              </a:solidFill>
              <a:effectLst/>
            </c:spPr>
          </c:dPt>
          <c:cat>
            <c:multiLvlStrRef>
              <c:f>Sheet1!$A$2:$A$6</c:f>
              <c:multiLvlStrCache>
                <c:ptCount val="5"/>
                <c:lvl>
                  <c:pt idx="0">
                    <c:v>Aetna</c:v>
                  </c:pt>
                  <c:pt idx="1">
                    <c:v>Blue Cross</c:v>
                  </c:pt>
                  <c:pt idx="2">
                    <c:v>Cigna</c:v>
                  </c:pt>
                  <c:pt idx="3">
                    <c:v>Medicare</c:v>
                  </c:pt>
                  <c:pt idx="4">
                    <c:v>UnitedHealth</c:v>
                  </c:pt>
                </c:lvl>
              </c:multiLvlStrCache>
            </c:multiLvlStrRef>
          </c:cat>
          <c:val>
            <c:numRef>
              <c:f>Sheet1!$B$2:$B$6</c:f>
              <c:numCache>
                <c:formatCode>General</c:formatCode>
                <c:ptCount val="5"/>
                <c:pt idx="0">
                  <c:v>5.4</c:v>
                </c:pt>
                <c:pt idx="1">
                  <c:v>4.8</c:v>
                </c:pt>
                <c:pt idx="2">
                  <c:v>5.2</c:v>
                </c:pt>
                <c:pt idx="3">
                  <c:v>5.9</c:v>
                </c:pt>
                <c:pt idx="4">
                  <c:v>4.6</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name is [Your Name] and I'm excited to share my work for the Cotiviti intern assessment.
I chose Topic 2 — Clinical Decision Making and Pattern Recognition in Healthcare — and focused specifically on payment integrity: detecting outlier insurance claims before they result in erroneous reimbursements.
The dataset I used is a publicly available synthetic healthcare dataset from Kaggle with around 10,000 patient admission records. My proof-of-concept uses Isolation Forest for anomaly detection, SHAP values for explainability, and Plotly for interactive visualizations — all in a Jupyter notebook I'll demonstrate shortly.
Let me walk you through the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quick overview of what I'll cover.
I'll start by defining the topic and placing it in the context of Cotiviti's TPO framework. Then I'll walk through the three key trends making this problem more urgent. The bulk of the presentation covers my proof-of-concept — how I built it, what decisions I made, and why.
I'll then share the actual findings from running the model on the dataset, and finish with three concrete recommendations for Cotiviti based on what I found.
The whole demo runs in a Jupyter notebook, which I'll also screen-share to show the live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what this field actually is — not the textbook definition, but the core intuition.
Clinical Decision Making and Pattern Recognition is really about scale. An experienced claims auditor can review maybe 50 claims a day in detail. A machine learning system can score 10,000 claims in seconds. The goal isn't to replace human judgment — it's to point that judgment at the right cases.
The TPO framework — Treatment, Payment, Operations — is how Cotiviti organizes where AI creates value. I focused on the Payment lane, specifically the question: given a claim's billed amount, the patient's condition, and the insurer involved, does this claim look statistically normal?
If it doesn't, it gets flagged for human review. That's the whole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tell you why this matters.
First — $300 billion. That's the FBI's estimate of how much healthcare fraud, waste, and abuse costs the U.S. system every single year. To put that in perspective, that's roughly 6% of total U.S. healthcare spending going to things that shouldn't be billed at all.
Second — $2.9 billion. That's what the DOJ recovered in False Claims Act settlements just in fiscal year 2023. Enforcement is not slowing down. Payers that can't demonstrate proactive detection are increasingly exposed.
Third — XAI. Explainable AI frameworks like SHAP have quietly solved the biggest blocker to ML adoption in regulated environments: the black-box problem. Every anomaly flag can now come with a documented rationale — which features drove the score, by how much, and why. That makes the output actionable and auditable.
These three forces together mean the time to build this capability is now, not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exactly how the proof-of-concept is structured.
Step one is data loading. I used the Kaggle Healthcare Dataset — about 10,000 synthetic patient admission records covering billing amounts, medical conditions, insurers, admission types, medications, and discharge dates.
Step two is the most important step: feature engineering. I didn't just feed raw billing amounts into the model. I computed a billing z-score for each claim — how far it sits from the average for that specific insurer-condition combination. I also computed a ratio vs the insurer's overall average, and I included length of stay for clinical context. These contextual features are what give the model real signal.
Step three is Isolation Forest. This unsupervised algorithm asks a simple question: how easy is it to isolate this claim from all the others? Normal claims sit in dense clusters — they take many random splits to isolate. Anomalous ones sit in sparse space and are isolated quickly. I ran it with 200 trees and a 5% contamination rate, which reflects realistic fraud prevalence estimates.
Step four is SHAP. For each flagged claim, SHAP tells me exactly which features drove the anomaly score and by how much. That transforms a black-box alert into something a reviewer can actually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model actually found.
Around 500 claims — roughly 5% of the dataset — were flagged as anomalous. That's consistent with realistic estimates of healthcare billing irregularity rates, which range from 3% to 10% depending on the payer and specialty.
The most interesting finding wasn't the count — it was the distribution. Anomaly rates aren't uniform across insurers. Some payer relationships carry meaningfully higher risk than others for the same medical conditions. That's a finding on its own: blanket review thresholds that treat all insurers the same are leaving risk on the table.
SHAP analysis confirmed that billing z-score — contextual deviation from the insurer-condition norm — was the top driver of anomaly flags. Raw billing amount ranked lower. That validates the feature engineering decision: context matters more than the absolute number.
I also built a financial impact table that estimates overpayment by comparing each flagged claim's billed amount against the expected amount for that insurer-condition combination. That's where the dollar value of the system becomes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quickly walk through the opportunities and threats.
On the opportunity side, the biggest one is shifting from post-payment recovery to prepayment screening. Right now most payers review claims after the money has already gone out, which means recovery requires legal proceedings and provider disputes. Moving detection upstream eliminates that friction entirely.
The second opportunity is targeted stratification. My analysis found that anomaly rates vary significantly across insurers. Rather than applying the same review threshold everywhere, you can allocate audit resources toward the highest-risk payer relationships.
SHAP explanations are the third opportunity — they're what make this system actually deployable in a compliance environment. Every flag comes with documentation.
On the threat side — three things to take seriously. Fraud patterns evolve, which means a static model needs a retraining pipeline. False positives are painful because they damage provider relationships — getting precision-recall right is not optional. And CMS requirements around algorithmic decision-making are still being written, which creates regulatory uncertainty that any deployed system has to navigate.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everything I've built and found, here are three concrete recommendations.
First — build a prepayment scoring layer. Integrate Isolation Forest directly into the claims adjudication pipeline so every claim gets a risk score before payment is released. This isn't a research project — my notebook demonstrates it's technically straightforward. The challenge is integration with existing workflows, but the payoff justifies it.
Second — pair every flag with a SHAP explanation. A flag with no context creates more work, not less. The reviewer still has to figure out why the claim looks wrong. SHAP values solve this automatically. And importantly, they create the documented audit trail that compliance teams need.
Third — productize the anomaly heatmap as a client intelligence product. This is the most strategically interesting recommendation. Insurer-level anomaly rates over time are an early-warning signal for emerging fraud schemes — not a lagging indicator. Offering that visibility to health plan clients as a live dashboard shifts Cotiviti's positioning from audit service to intelligence platform. That's a meaningfully different value proposition.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quick overview of the Jupyter notebook before I screen-share it.
The notebook is organized into logical cells that build on each other. It starts by downloading the dataset directly from Kaggle, runs exploratory analysis, engineers the contextual billing features, trains the Isolation Forest, and produces all the visualizations.
The final cell is the one I'll highlight in the demo — a combined summary dashboard that shows the anomaly scatter plot, insurer risk bar chart, score distribution, and billing box plots all in one interactive figure. That's the 'ta-da' moment.
I'll now switch to screen-share to walk through the notebook live. [SWITCH TO SCREEN SHARE]
[Walk through: Cell 2 output showing dataset loaded, Cell 5 output showing anomaly counts, Cell 6 scatter plot, Cell 12 financial impact table, Cell 8 SHAP bar chart, Final summary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 the key insight from this project is that the hardest part of healthcare anomaly detection isn't the algorithm. Isolation Forest is well-understood. SHAP is accessible. Python makes both straightforward to implement.
The hard part is framing the problem correctly — recognizing that a $15,000 claim is only suspicious in context. That's why the most important work in this project was feature engineering, not model tuning.
Once you have the right features, the model finds real signal. And once SHAP explains that signal, the output becomes something a compliance team can actually use.
For Cotiviti, I believe the three recommendations I outlined — prepayment scoring, SHAP-powered audit narratives, and an insurer risk intelligence dashboard — represent a clear path from reactive audit to proactive intelligence.
Thank you for your time. I'm happy to answer any questions about the methodology, the model, or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132320" y="-731520"/>
            <a:ext cx="3200400" cy="3200400"/>
          </a:xfrm>
          <a:prstGeom prst="ellipse">
            <a:avLst/>
          </a:prstGeom>
          <a:solidFill>
            <a:srgbClr val="065A82">
              <a:alpha val="40000"/>
            </a:srgbClr>
          </a:solidFill>
          <a:ln w="12700">
            <a:solidFill>
              <a:srgbClr val="065A82">
                <a:alpha val="40000"/>
              </a:srgbClr>
            </a:solidFill>
            <a:prstDash val="solid"/>
          </a:ln>
        </p:spPr>
      </p:sp>
      <p:sp>
        <p:nvSpPr>
          <p:cNvPr id="3" name="Shape 1"/>
          <p:cNvSpPr/>
          <p:nvPr/>
        </p:nvSpPr>
        <p:spPr>
          <a:xfrm>
            <a:off x="7680960" y="-274320"/>
            <a:ext cx="2011680" cy="2011680"/>
          </a:xfrm>
          <a:prstGeom prst="ellipse">
            <a:avLst/>
          </a:prstGeom>
          <a:solidFill>
            <a:srgbClr val="1C7293">
              <a:alpha val="50000"/>
            </a:srgbClr>
          </a:solidFill>
          <a:ln w="12700">
            <a:solidFill>
              <a:srgbClr val="1C7293">
                <a:alpha val="50000"/>
              </a:srgbClr>
            </a:solidFill>
            <a:prstDash val="solid"/>
          </a:ln>
        </p:spPr>
      </p:sp>
      <p:sp>
        <p:nvSpPr>
          <p:cNvPr id="4" name="Text 2"/>
          <p:cNvSpPr/>
          <p:nvPr/>
        </p:nvSpPr>
        <p:spPr>
          <a:xfrm>
            <a:off x="548640" y="502920"/>
            <a:ext cx="8046720" cy="274320"/>
          </a:xfrm>
          <a:prstGeom prst="rect">
            <a:avLst/>
          </a:prstGeom>
          <a:noFill/>
          <a:ln/>
        </p:spPr>
        <p:txBody>
          <a:bodyPr wrap="square" rtlCol="0" anchor="ctr"/>
          <a:lstStyle/>
          <a:p>
            <a:pPr indent="0" marL="0">
              <a:buNone/>
            </a:pPr>
            <a:r>
              <a:rPr lang="en-US" sz="900" b="1" spc="300" kern="0" dirty="0">
                <a:solidFill>
                  <a:srgbClr val="02C39A"/>
                </a:solidFill>
                <a:latin typeface="Calibri" pitchFamily="34" charset="0"/>
                <a:ea typeface="Calibri" pitchFamily="34" charset="-122"/>
                <a:cs typeface="Calibri" pitchFamily="34" charset="-120"/>
              </a:rPr>
              <a:t>COTIVITI  ·  INTERN ASSESSMENT  ·  TOPIC 2</a:t>
            </a:r>
            <a:endParaRPr lang="en-US" sz="900" dirty="0"/>
          </a:p>
        </p:txBody>
      </p:sp>
      <p:sp>
        <p:nvSpPr>
          <p:cNvPr id="5" name="Text 3"/>
          <p:cNvSpPr/>
          <p:nvPr/>
        </p:nvSpPr>
        <p:spPr>
          <a:xfrm>
            <a:off x="548640" y="914400"/>
            <a:ext cx="8229600" cy="2194560"/>
          </a:xfrm>
          <a:prstGeom prst="rect">
            <a:avLst/>
          </a:prstGeom>
          <a:noFill/>
          <a:ln/>
        </p:spPr>
        <p:txBody>
          <a:bodyPr wrap="square" rtlCol="0" anchor="ctr"/>
          <a:lstStyle/>
          <a:p>
            <a:pPr indent="0" marL="0">
              <a:lnSpc>
                <a:spcPct val="115000"/>
              </a:lnSpc>
              <a:buNone/>
            </a:pPr>
            <a:r>
              <a:rPr lang="en-US" sz="3800" b="1" dirty="0">
                <a:solidFill>
                  <a:srgbClr val="FFFFFF"/>
                </a:solidFill>
                <a:latin typeface="Cambria" pitchFamily="34" charset="0"/>
                <a:ea typeface="Cambria" pitchFamily="34" charset="-122"/>
                <a:cs typeface="Cambria" pitchFamily="34" charset="-120"/>
              </a:rPr>
              <a:t>Clinical Decision Making</a:t>
            </a:r>
            <a:endParaRPr lang="en-US" sz="3800" dirty="0"/>
          </a:p>
          <a:p>
            <a:pPr indent="0" marL="0">
              <a:lnSpc>
                <a:spcPct val="115000"/>
              </a:lnSpc>
              <a:buNone/>
            </a:pPr>
            <a:r>
              <a:rPr lang="en-US" sz="3800" b="1" dirty="0">
                <a:solidFill>
                  <a:srgbClr val="FFFFFF"/>
                </a:solidFill>
                <a:latin typeface="Cambria" pitchFamily="34" charset="0"/>
                <a:ea typeface="Cambria" pitchFamily="34" charset="-122"/>
                <a:cs typeface="Cambria" pitchFamily="34" charset="-120"/>
              </a:rPr>
              <a:t>&amp; Pattern Recognition</a:t>
            </a:r>
            <a:endParaRPr lang="en-US" sz="3800" dirty="0"/>
          </a:p>
          <a:p>
            <a:pPr indent="0" marL="0">
              <a:lnSpc>
                <a:spcPct val="115000"/>
              </a:lnSpc>
              <a:buNone/>
            </a:pPr>
            <a:r>
              <a:rPr lang="en-US" sz="3800" b="1" dirty="0">
                <a:solidFill>
                  <a:srgbClr val="FFFFFF"/>
                </a:solidFill>
                <a:latin typeface="Cambria" pitchFamily="34" charset="0"/>
                <a:ea typeface="Cambria" pitchFamily="34" charset="-122"/>
                <a:cs typeface="Cambria" pitchFamily="34" charset="-120"/>
              </a:rPr>
              <a:t>in Healthcare</a:t>
            </a:r>
            <a:endParaRPr lang="en-US" sz="3800" dirty="0"/>
          </a:p>
        </p:txBody>
      </p:sp>
      <p:sp>
        <p:nvSpPr>
          <p:cNvPr id="6" name="Text 4"/>
          <p:cNvSpPr/>
          <p:nvPr/>
        </p:nvSpPr>
        <p:spPr>
          <a:xfrm>
            <a:off x="548640" y="3246120"/>
            <a:ext cx="6858000" cy="777240"/>
          </a:xfrm>
          <a:prstGeom prst="rect">
            <a:avLst/>
          </a:prstGeom>
          <a:noFill/>
          <a:ln/>
        </p:spPr>
        <p:txBody>
          <a:bodyPr wrap="square" rtlCol="0" anchor="ctr"/>
          <a:lstStyle/>
          <a:p>
            <a:pPr indent="0" marL="0">
              <a:lnSpc>
                <a:spcPct val="130000"/>
              </a:lnSpc>
              <a:buNone/>
            </a:pPr>
            <a:r>
              <a:rPr lang="en-US" sz="1500" dirty="0">
                <a:solidFill>
                  <a:srgbClr val="A8C4D4"/>
                </a:solidFill>
                <a:latin typeface="Calibri" pitchFamily="34" charset="0"/>
                <a:ea typeface="Calibri" pitchFamily="34" charset="-122"/>
                <a:cs typeface="Calibri" pitchFamily="34" charset="-120"/>
              </a:rPr>
              <a:t>Detecting Outlier Insurance Claims using</a:t>
            </a:r>
            <a:endParaRPr lang="en-US" sz="1500" dirty="0"/>
          </a:p>
          <a:p>
            <a:pPr indent="0" marL="0">
              <a:lnSpc>
                <a:spcPct val="130000"/>
              </a:lnSpc>
              <a:buNone/>
            </a:pPr>
            <a:r>
              <a:rPr lang="en-US" sz="1500" dirty="0">
                <a:solidFill>
                  <a:srgbClr val="A8C4D4"/>
                </a:solidFill>
                <a:latin typeface="Calibri" pitchFamily="34" charset="0"/>
                <a:ea typeface="Calibri" pitchFamily="34" charset="-122"/>
                <a:cs typeface="Calibri" pitchFamily="34" charset="-120"/>
              </a:rPr>
              <a:t>Isolation Forest &amp; SHAP Explainability</a:t>
            </a:r>
            <a:endParaRPr lang="en-US" sz="1500" dirty="0"/>
          </a:p>
        </p:txBody>
      </p:sp>
      <p:sp>
        <p:nvSpPr>
          <p:cNvPr id="7" name="Shape 5"/>
          <p:cNvSpPr/>
          <p:nvPr/>
        </p:nvSpPr>
        <p:spPr>
          <a:xfrm>
            <a:off x="548640" y="4407408"/>
            <a:ext cx="73152" cy="73152"/>
          </a:xfrm>
          <a:prstGeom prst="ellipse">
            <a:avLst/>
          </a:prstGeom>
          <a:solidFill>
            <a:srgbClr val="02C39A"/>
          </a:solidFill>
          <a:ln w="12700">
            <a:solidFill>
              <a:srgbClr val="02C39A"/>
            </a:solidFill>
            <a:prstDash val="solid"/>
          </a:ln>
        </p:spPr>
      </p:sp>
      <p:sp>
        <p:nvSpPr>
          <p:cNvPr id="8" name="Text 6"/>
          <p:cNvSpPr/>
          <p:nvPr/>
        </p:nvSpPr>
        <p:spPr>
          <a:xfrm>
            <a:off x="713232" y="4370832"/>
            <a:ext cx="7772400" cy="201168"/>
          </a:xfrm>
          <a:prstGeom prst="rect">
            <a:avLst/>
          </a:prstGeom>
          <a:noFill/>
          <a:ln/>
        </p:spPr>
        <p:txBody>
          <a:bodyPr wrap="square" rtlCol="0" anchor="ctr"/>
          <a:lstStyle/>
          <a:p>
            <a:pPr indent="0" marL="0">
              <a:buNone/>
            </a:pPr>
            <a:r>
              <a:rPr lang="en-US" sz="900" dirty="0">
                <a:solidFill>
                  <a:srgbClr val="7AAABB"/>
                </a:solidFill>
                <a:latin typeface="Calibri" pitchFamily="34" charset="0"/>
                <a:ea typeface="Calibri" pitchFamily="34" charset="-122"/>
                <a:cs typeface="Calibri" pitchFamily="34" charset="-120"/>
              </a:rPr>
              <a:t>Dataset: Kaggle Healthcare Dataset (prasad22)   ·   Stack: Python · Scikit-learn · SHAP · Plotly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3400" b="1" dirty="0">
                <a:solidFill>
                  <a:srgbClr val="0A1628"/>
                </a:solidFill>
                <a:latin typeface="Cambria" pitchFamily="34" charset="0"/>
                <a:ea typeface="Cambria" pitchFamily="34" charset="-122"/>
                <a:cs typeface="Cambria" pitchFamily="34" charset="-120"/>
              </a:rPr>
              <a:t>What I'll Cover</a:t>
            </a:r>
            <a:endParaRPr lang="en-US" sz="3400" dirty="0"/>
          </a:p>
        </p:txBody>
      </p:sp>
      <p:sp>
        <p:nvSpPr>
          <p:cNvPr id="3" name="Shape 1"/>
          <p:cNvSpPr/>
          <p:nvPr/>
        </p:nvSpPr>
        <p:spPr>
          <a:xfrm>
            <a:off x="502920" y="1143000"/>
            <a:ext cx="2560320" cy="1463040"/>
          </a:xfrm>
          <a:prstGeom prst="roundRect">
            <a:avLst>
              <a:gd name="adj" fmla="val 7500"/>
            </a:avLst>
          </a:prstGeom>
          <a:solidFill>
            <a:srgbClr val="FFFFFF"/>
          </a:solidFill>
          <a:ln/>
          <a:effectLst>
            <a:outerShdw sx="100000" sy="100000" kx="0" ky="0" algn="bl" rotWithShape="0" blurRad="101600" dist="25400" dir="2700000">
              <a:srgbClr val="000000">
                <a:alpha val="10000"/>
              </a:srgbClr>
            </a:outerShdw>
          </a:effectLst>
        </p:spPr>
      </p:sp>
      <p:sp>
        <p:nvSpPr>
          <p:cNvPr id="4" name="Text 2"/>
          <p:cNvSpPr/>
          <p:nvPr/>
        </p:nvSpPr>
        <p:spPr>
          <a:xfrm>
            <a:off x="667512" y="1307592"/>
            <a:ext cx="548640" cy="36576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01</a:t>
            </a:r>
            <a:endParaRPr lang="en-US" sz="1400" dirty="0"/>
          </a:p>
        </p:txBody>
      </p:sp>
      <p:sp>
        <p:nvSpPr>
          <p:cNvPr id="5" name="Text 3"/>
          <p:cNvSpPr/>
          <p:nvPr/>
        </p:nvSpPr>
        <p:spPr>
          <a:xfrm>
            <a:off x="667512" y="1645920"/>
            <a:ext cx="2286000" cy="365760"/>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Topic Definition</a:t>
            </a:r>
            <a:endParaRPr lang="en-US" sz="1300" dirty="0"/>
          </a:p>
        </p:txBody>
      </p:sp>
      <p:sp>
        <p:nvSpPr>
          <p:cNvPr id="6" name="Text 4"/>
          <p:cNvSpPr/>
          <p:nvPr/>
        </p:nvSpPr>
        <p:spPr>
          <a:xfrm>
            <a:off x="667512" y="2011680"/>
            <a:ext cx="2286000" cy="50292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What the TPO framework is and why it matters</a:t>
            </a:r>
            <a:endParaRPr lang="en-US" sz="1050" dirty="0"/>
          </a:p>
        </p:txBody>
      </p:sp>
      <p:sp>
        <p:nvSpPr>
          <p:cNvPr id="7" name="Shape 5"/>
          <p:cNvSpPr/>
          <p:nvPr/>
        </p:nvSpPr>
        <p:spPr>
          <a:xfrm>
            <a:off x="3337560" y="1143000"/>
            <a:ext cx="2560320" cy="1463040"/>
          </a:xfrm>
          <a:prstGeom prst="roundRect">
            <a:avLst>
              <a:gd name="adj" fmla="val 7500"/>
            </a:avLst>
          </a:prstGeom>
          <a:solidFill>
            <a:srgbClr val="FFFFFF"/>
          </a:solidFill>
          <a:ln/>
          <a:effectLst>
            <a:outerShdw sx="100000" sy="100000" kx="0" ky="0" algn="bl" rotWithShape="0" blurRad="101600" dist="25400" dir="2700000">
              <a:srgbClr val="000000">
                <a:alpha val="10000"/>
              </a:srgbClr>
            </a:outerShdw>
          </a:effectLst>
        </p:spPr>
      </p:sp>
      <p:sp>
        <p:nvSpPr>
          <p:cNvPr id="8" name="Text 6"/>
          <p:cNvSpPr/>
          <p:nvPr/>
        </p:nvSpPr>
        <p:spPr>
          <a:xfrm>
            <a:off x="3502152" y="1307592"/>
            <a:ext cx="548640" cy="36576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02</a:t>
            </a:r>
            <a:endParaRPr lang="en-US" sz="1400" dirty="0"/>
          </a:p>
        </p:txBody>
      </p:sp>
      <p:sp>
        <p:nvSpPr>
          <p:cNvPr id="9" name="Text 7"/>
          <p:cNvSpPr/>
          <p:nvPr/>
        </p:nvSpPr>
        <p:spPr>
          <a:xfrm>
            <a:off x="3502152" y="1645920"/>
            <a:ext cx="2286000" cy="365760"/>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Relevant Trends</a:t>
            </a:r>
            <a:endParaRPr lang="en-US" sz="1300" dirty="0"/>
          </a:p>
        </p:txBody>
      </p:sp>
      <p:sp>
        <p:nvSpPr>
          <p:cNvPr id="10" name="Text 8"/>
          <p:cNvSpPr/>
          <p:nvPr/>
        </p:nvSpPr>
        <p:spPr>
          <a:xfrm>
            <a:off x="3502152" y="2011680"/>
            <a:ext cx="2286000" cy="50292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Why this problem is urgent right now</a:t>
            </a:r>
            <a:endParaRPr lang="en-US" sz="1050" dirty="0"/>
          </a:p>
        </p:txBody>
      </p:sp>
      <p:sp>
        <p:nvSpPr>
          <p:cNvPr id="11" name="Shape 9"/>
          <p:cNvSpPr/>
          <p:nvPr/>
        </p:nvSpPr>
        <p:spPr>
          <a:xfrm>
            <a:off x="6172200" y="1143000"/>
            <a:ext cx="2560320" cy="1463040"/>
          </a:xfrm>
          <a:prstGeom prst="roundRect">
            <a:avLst>
              <a:gd name="adj" fmla="val 7500"/>
            </a:avLst>
          </a:prstGeom>
          <a:solidFill>
            <a:srgbClr val="FFFFFF"/>
          </a:solidFill>
          <a:ln/>
          <a:effectLst>
            <a:outerShdw sx="100000" sy="100000" kx="0" ky="0" algn="bl" rotWithShape="0" blurRad="101600" dist="25400" dir="2700000">
              <a:srgbClr val="000000">
                <a:alpha val="10000"/>
              </a:srgbClr>
            </a:outerShdw>
          </a:effectLst>
        </p:spPr>
      </p:sp>
      <p:sp>
        <p:nvSpPr>
          <p:cNvPr id="12" name="Text 10"/>
          <p:cNvSpPr/>
          <p:nvPr/>
        </p:nvSpPr>
        <p:spPr>
          <a:xfrm>
            <a:off x="6336792" y="1307592"/>
            <a:ext cx="548640" cy="36576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03</a:t>
            </a:r>
            <a:endParaRPr lang="en-US" sz="1400" dirty="0"/>
          </a:p>
        </p:txBody>
      </p:sp>
      <p:sp>
        <p:nvSpPr>
          <p:cNvPr id="13" name="Text 11"/>
          <p:cNvSpPr/>
          <p:nvPr/>
        </p:nvSpPr>
        <p:spPr>
          <a:xfrm>
            <a:off x="6336792" y="1645920"/>
            <a:ext cx="2286000" cy="365760"/>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The POC</a:t>
            </a:r>
            <a:endParaRPr lang="en-US" sz="1300" dirty="0"/>
          </a:p>
        </p:txBody>
      </p:sp>
      <p:sp>
        <p:nvSpPr>
          <p:cNvPr id="14" name="Text 12"/>
          <p:cNvSpPr/>
          <p:nvPr/>
        </p:nvSpPr>
        <p:spPr>
          <a:xfrm>
            <a:off x="6336792" y="2011680"/>
            <a:ext cx="2286000" cy="50292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How Isolation Forest + SHAP works end-to-end</a:t>
            </a:r>
            <a:endParaRPr lang="en-US" sz="1050" dirty="0"/>
          </a:p>
        </p:txBody>
      </p:sp>
      <p:sp>
        <p:nvSpPr>
          <p:cNvPr id="15" name="Shape 13"/>
          <p:cNvSpPr/>
          <p:nvPr/>
        </p:nvSpPr>
        <p:spPr>
          <a:xfrm>
            <a:off x="1508760" y="2834640"/>
            <a:ext cx="2560320" cy="1463040"/>
          </a:xfrm>
          <a:prstGeom prst="roundRect">
            <a:avLst>
              <a:gd name="adj" fmla="val 7500"/>
            </a:avLst>
          </a:prstGeom>
          <a:solidFill>
            <a:srgbClr val="FFFFFF"/>
          </a:solidFill>
          <a:ln/>
          <a:effectLst>
            <a:outerShdw sx="100000" sy="100000" kx="0" ky="0" algn="bl" rotWithShape="0" blurRad="101600" dist="25400" dir="2700000">
              <a:srgbClr val="000000">
                <a:alpha val="10000"/>
              </a:srgbClr>
            </a:outerShdw>
          </a:effectLst>
        </p:spPr>
      </p:sp>
      <p:sp>
        <p:nvSpPr>
          <p:cNvPr id="16" name="Text 14"/>
          <p:cNvSpPr/>
          <p:nvPr/>
        </p:nvSpPr>
        <p:spPr>
          <a:xfrm>
            <a:off x="1673352" y="2999232"/>
            <a:ext cx="548640" cy="36576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04</a:t>
            </a:r>
            <a:endParaRPr lang="en-US" sz="1400" dirty="0"/>
          </a:p>
        </p:txBody>
      </p:sp>
      <p:sp>
        <p:nvSpPr>
          <p:cNvPr id="17" name="Text 15"/>
          <p:cNvSpPr/>
          <p:nvPr/>
        </p:nvSpPr>
        <p:spPr>
          <a:xfrm>
            <a:off x="1673352" y="3337560"/>
            <a:ext cx="2286000" cy="365760"/>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Key Findings</a:t>
            </a:r>
            <a:endParaRPr lang="en-US" sz="1300" dirty="0"/>
          </a:p>
        </p:txBody>
      </p:sp>
      <p:sp>
        <p:nvSpPr>
          <p:cNvPr id="18" name="Text 16"/>
          <p:cNvSpPr/>
          <p:nvPr/>
        </p:nvSpPr>
        <p:spPr>
          <a:xfrm>
            <a:off x="1673352" y="3703320"/>
            <a:ext cx="2286000" cy="50292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What the data actually showed</a:t>
            </a:r>
            <a:endParaRPr lang="en-US" sz="1050" dirty="0"/>
          </a:p>
        </p:txBody>
      </p:sp>
      <p:sp>
        <p:nvSpPr>
          <p:cNvPr id="19" name="Shape 17"/>
          <p:cNvSpPr/>
          <p:nvPr/>
        </p:nvSpPr>
        <p:spPr>
          <a:xfrm>
            <a:off x="4343400" y="2834640"/>
            <a:ext cx="2560320" cy="1463040"/>
          </a:xfrm>
          <a:prstGeom prst="roundRect">
            <a:avLst>
              <a:gd name="adj" fmla="val 7500"/>
            </a:avLst>
          </a:prstGeom>
          <a:solidFill>
            <a:srgbClr val="FFFFFF"/>
          </a:solidFill>
          <a:ln/>
          <a:effectLst>
            <a:outerShdw sx="100000" sy="100000" kx="0" ky="0" algn="bl" rotWithShape="0" blurRad="101600" dist="25400" dir="2700000">
              <a:srgbClr val="000000">
                <a:alpha val="10000"/>
              </a:srgbClr>
            </a:outerShdw>
          </a:effectLst>
        </p:spPr>
      </p:sp>
      <p:sp>
        <p:nvSpPr>
          <p:cNvPr id="20" name="Text 18"/>
          <p:cNvSpPr/>
          <p:nvPr/>
        </p:nvSpPr>
        <p:spPr>
          <a:xfrm>
            <a:off x="4507992" y="2999232"/>
            <a:ext cx="548640" cy="36576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05</a:t>
            </a:r>
            <a:endParaRPr lang="en-US" sz="1400" dirty="0"/>
          </a:p>
        </p:txBody>
      </p:sp>
      <p:sp>
        <p:nvSpPr>
          <p:cNvPr id="21" name="Text 19"/>
          <p:cNvSpPr/>
          <p:nvPr/>
        </p:nvSpPr>
        <p:spPr>
          <a:xfrm>
            <a:off x="4507992" y="3337560"/>
            <a:ext cx="2286000" cy="365760"/>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Strategic Recommendations</a:t>
            </a:r>
            <a:endParaRPr lang="en-US" sz="1300" dirty="0"/>
          </a:p>
        </p:txBody>
      </p:sp>
      <p:sp>
        <p:nvSpPr>
          <p:cNvPr id="22" name="Text 20"/>
          <p:cNvSpPr/>
          <p:nvPr/>
        </p:nvSpPr>
        <p:spPr>
          <a:xfrm>
            <a:off x="4507992" y="3703320"/>
            <a:ext cx="2286000" cy="50292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Three concrete actions for Cotiviti</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3400" b="1" dirty="0">
                <a:solidFill>
                  <a:srgbClr val="0A1628"/>
                </a:solidFill>
                <a:latin typeface="Cambria" pitchFamily="34" charset="0"/>
                <a:ea typeface="Cambria" pitchFamily="34" charset="-122"/>
                <a:cs typeface="Cambria" pitchFamily="34" charset="-120"/>
              </a:rPr>
              <a:t>What Is This Field, Really?</a:t>
            </a:r>
            <a:endParaRPr lang="en-US" sz="3400" dirty="0"/>
          </a:p>
        </p:txBody>
      </p:sp>
      <p:sp>
        <p:nvSpPr>
          <p:cNvPr id="3" name="Shape 1"/>
          <p:cNvSpPr/>
          <p:nvPr/>
        </p:nvSpPr>
        <p:spPr>
          <a:xfrm>
            <a:off x="457200" y="1097280"/>
            <a:ext cx="5029200" cy="3474720"/>
          </a:xfrm>
          <a:prstGeom prst="roundRect">
            <a:avLst>
              <a:gd name="adj" fmla="val 3158"/>
            </a:avLst>
          </a:prstGeom>
          <a:solidFill>
            <a:srgbClr val="FFFFFF"/>
          </a:solidFill>
          <a:ln/>
          <a:effectLst>
            <a:outerShdw sx="100000" sy="100000" kx="0" ky="0" algn="bl" rotWithShape="0" blurRad="101600" dist="25400" dir="2700000">
              <a:srgbClr val="000000">
                <a:alpha val="10000"/>
              </a:srgbClr>
            </a:outerShdw>
          </a:effectLst>
        </p:spPr>
      </p:sp>
      <p:sp>
        <p:nvSpPr>
          <p:cNvPr id="4" name="Text 2"/>
          <p:cNvSpPr/>
          <p:nvPr/>
        </p:nvSpPr>
        <p:spPr>
          <a:xfrm>
            <a:off x="685800" y="1261872"/>
            <a:ext cx="4572000" cy="320040"/>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The core idea</a:t>
            </a:r>
            <a:endParaRPr lang="en-US" sz="1100" dirty="0"/>
          </a:p>
        </p:txBody>
      </p:sp>
      <p:sp>
        <p:nvSpPr>
          <p:cNvPr id="5" name="Text 3"/>
          <p:cNvSpPr/>
          <p:nvPr/>
        </p:nvSpPr>
        <p:spPr>
          <a:xfrm>
            <a:off x="685800" y="1627632"/>
            <a:ext cx="4572000" cy="2011680"/>
          </a:xfrm>
          <a:prstGeom prst="rect">
            <a:avLst/>
          </a:prstGeom>
          <a:noFill/>
          <a:ln/>
        </p:spPr>
        <p:txBody>
          <a:bodyPr wrap="square" lIns="0" tIns="0" rIns="0" bIns="0" rtlCol="0" anchor="ctr"/>
          <a:lstStyle/>
          <a:p>
            <a:pPr indent="0" marL="0">
              <a:lnSpc>
                <a:spcPct val="135000"/>
              </a:lnSpc>
              <a:buNone/>
            </a:pPr>
            <a:r>
              <a:rPr lang="en-US" sz="1150" dirty="0">
                <a:solidFill>
                  <a:srgbClr val="0A1628"/>
                </a:solidFill>
                <a:latin typeface="Calibri" pitchFamily="34" charset="0"/>
                <a:ea typeface="Calibri" pitchFamily="34" charset="-122"/>
                <a:cs typeface="Calibri" pitchFamily="34" charset="-120"/>
              </a:rPr>
              <a:t>Clinical Decision Making &amp; Pattern Recognition is about giving machines the ability to do what experienced clinicians and auditors do naturally — spot something that doesn't look right.</a:t>
            </a:r>
            <a:endParaRPr lang="en-US" sz="1150" dirty="0"/>
          </a:p>
          <a:p>
            <a:pPr indent="0" marL="0">
              <a:lnSpc>
                <a:spcPct val="135000"/>
              </a:lnSpc>
              <a:buNone/>
            </a:pPr>
            <a:endParaRPr lang="en-US" sz="1150" dirty="0"/>
          </a:p>
          <a:p>
            <a:pPr indent="0" marL="0">
              <a:lnSpc>
                <a:spcPct val="135000"/>
              </a:lnSpc>
              <a:buNone/>
            </a:pPr>
            <a:r>
              <a:rPr lang="en-US" sz="1150" dirty="0">
                <a:solidFill>
                  <a:srgbClr val="0A1628"/>
                </a:solidFill>
                <a:latin typeface="Calibri" pitchFamily="34" charset="0"/>
                <a:ea typeface="Calibri" pitchFamily="34" charset="-122"/>
                <a:cs typeface="Calibri" pitchFamily="34" charset="-120"/>
              </a:rPr>
              <a:t>The difference is scale. A trained reviewer catches a handful of suspicious cases a day. A well-built ML system screens thousands in seconds.</a:t>
            </a:r>
            <a:endParaRPr lang="en-US" sz="1150" dirty="0"/>
          </a:p>
          <a:p>
            <a:pPr indent="0" marL="0">
              <a:lnSpc>
                <a:spcPct val="135000"/>
              </a:lnSpc>
              <a:buNone/>
            </a:pPr>
            <a:endParaRPr lang="en-US" sz="1150" dirty="0"/>
          </a:p>
          <a:p>
            <a:pPr indent="0" marL="0">
              <a:lnSpc>
                <a:spcPct val="135000"/>
              </a:lnSpc>
              <a:buNone/>
            </a:pPr>
            <a:r>
              <a:rPr lang="en-US" sz="1150" dirty="0">
                <a:solidFill>
                  <a:srgbClr val="0A1628"/>
                </a:solidFill>
                <a:latin typeface="Calibri" pitchFamily="34" charset="0"/>
                <a:ea typeface="Calibri" pitchFamily="34" charset="-122"/>
                <a:cs typeface="Calibri" pitchFamily="34" charset="-120"/>
              </a:rPr>
              <a:t>The TPO framework organizes where this creates value:</a:t>
            </a:r>
            <a:endParaRPr lang="en-US" sz="1150" dirty="0"/>
          </a:p>
        </p:txBody>
      </p:sp>
      <p:sp>
        <p:nvSpPr>
          <p:cNvPr id="6" name="Shape 4"/>
          <p:cNvSpPr/>
          <p:nvPr/>
        </p:nvSpPr>
        <p:spPr>
          <a:xfrm>
            <a:off x="685800" y="3931920"/>
            <a:ext cx="1417320" cy="411480"/>
          </a:xfrm>
          <a:prstGeom prst="roundRect">
            <a:avLst>
              <a:gd name="adj" fmla="val 48889"/>
            </a:avLst>
          </a:prstGeom>
          <a:solidFill>
            <a:srgbClr val="1C7293"/>
          </a:solidFill>
          <a:ln w="12700">
            <a:solidFill>
              <a:srgbClr val="1C7293"/>
            </a:solidFill>
            <a:prstDash val="solid"/>
          </a:ln>
        </p:spPr>
      </p:sp>
      <p:sp>
        <p:nvSpPr>
          <p:cNvPr id="7" name="Text 5"/>
          <p:cNvSpPr/>
          <p:nvPr/>
        </p:nvSpPr>
        <p:spPr>
          <a:xfrm>
            <a:off x="685800" y="3931920"/>
            <a:ext cx="141732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Treatment</a:t>
            </a:r>
            <a:endParaRPr lang="en-US" sz="1100" dirty="0"/>
          </a:p>
        </p:txBody>
      </p:sp>
      <p:sp>
        <p:nvSpPr>
          <p:cNvPr id="8" name="Shape 6"/>
          <p:cNvSpPr/>
          <p:nvPr/>
        </p:nvSpPr>
        <p:spPr>
          <a:xfrm>
            <a:off x="2286000" y="3931920"/>
            <a:ext cx="1417320" cy="411480"/>
          </a:xfrm>
          <a:prstGeom prst="roundRect">
            <a:avLst>
              <a:gd name="adj" fmla="val 48889"/>
            </a:avLst>
          </a:prstGeom>
          <a:solidFill>
            <a:srgbClr val="065A82"/>
          </a:solidFill>
          <a:ln w="12700">
            <a:solidFill>
              <a:srgbClr val="065A82"/>
            </a:solidFill>
            <a:prstDash val="solid"/>
          </a:ln>
        </p:spPr>
      </p:sp>
      <p:sp>
        <p:nvSpPr>
          <p:cNvPr id="9" name="Text 7"/>
          <p:cNvSpPr/>
          <p:nvPr/>
        </p:nvSpPr>
        <p:spPr>
          <a:xfrm>
            <a:off x="2286000" y="3931920"/>
            <a:ext cx="141732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Payment</a:t>
            </a:r>
            <a:endParaRPr lang="en-US" sz="1100" dirty="0"/>
          </a:p>
        </p:txBody>
      </p:sp>
      <p:sp>
        <p:nvSpPr>
          <p:cNvPr id="10" name="Shape 8"/>
          <p:cNvSpPr/>
          <p:nvPr/>
        </p:nvSpPr>
        <p:spPr>
          <a:xfrm>
            <a:off x="3886200" y="3931920"/>
            <a:ext cx="1417320" cy="411480"/>
          </a:xfrm>
          <a:prstGeom prst="roundRect">
            <a:avLst>
              <a:gd name="adj" fmla="val 48889"/>
            </a:avLst>
          </a:prstGeom>
          <a:solidFill>
            <a:srgbClr val="02C39A"/>
          </a:solidFill>
          <a:ln w="12700">
            <a:solidFill>
              <a:srgbClr val="02C39A"/>
            </a:solidFill>
            <a:prstDash val="solid"/>
          </a:ln>
        </p:spPr>
      </p:sp>
      <p:sp>
        <p:nvSpPr>
          <p:cNvPr id="11" name="Text 9"/>
          <p:cNvSpPr/>
          <p:nvPr/>
        </p:nvSpPr>
        <p:spPr>
          <a:xfrm>
            <a:off x="3886200" y="3931920"/>
            <a:ext cx="141732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Operations</a:t>
            </a:r>
            <a:endParaRPr lang="en-US" sz="1100" dirty="0"/>
          </a:p>
        </p:txBody>
      </p:sp>
      <p:sp>
        <p:nvSpPr>
          <p:cNvPr id="12" name="Shape 10"/>
          <p:cNvSpPr/>
          <p:nvPr/>
        </p:nvSpPr>
        <p:spPr>
          <a:xfrm>
            <a:off x="5669280" y="1097280"/>
            <a:ext cx="3017520" cy="3474720"/>
          </a:xfrm>
          <a:prstGeom prst="roundRect">
            <a:avLst>
              <a:gd name="adj" fmla="val 3636"/>
            </a:avLst>
          </a:prstGeom>
          <a:solidFill>
            <a:srgbClr val="065A82"/>
          </a:solidFill>
          <a:ln/>
        </p:spPr>
      </p:sp>
      <p:sp>
        <p:nvSpPr>
          <p:cNvPr id="13" name="Text 11"/>
          <p:cNvSpPr/>
          <p:nvPr/>
        </p:nvSpPr>
        <p:spPr>
          <a:xfrm>
            <a:off x="5852160" y="1261872"/>
            <a:ext cx="2651760" cy="320040"/>
          </a:xfrm>
          <a:prstGeom prst="rect">
            <a:avLst/>
          </a:prstGeom>
          <a:noFill/>
          <a:ln/>
        </p:spPr>
        <p:txBody>
          <a:bodyPr wrap="square" lIns="0" tIns="0" rIns="0" bIns="0"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This project</a:t>
            </a:r>
            <a:endParaRPr lang="en-US" sz="1100" dirty="0"/>
          </a:p>
        </p:txBody>
      </p:sp>
      <p:sp>
        <p:nvSpPr>
          <p:cNvPr id="14" name="Text 12"/>
          <p:cNvSpPr/>
          <p:nvPr/>
        </p:nvSpPr>
        <p:spPr>
          <a:xfrm>
            <a:off x="5852160" y="1627632"/>
            <a:ext cx="2651760" cy="3840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Focus: Payment</a:t>
            </a:r>
            <a:endParaRPr lang="en-US" sz="1800" dirty="0"/>
          </a:p>
        </p:txBody>
      </p:sp>
      <p:sp>
        <p:nvSpPr>
          <p:cNvPr id="15" name="Text 13"/>
          <p:cNvSpPr/>
          <p:nvPr/>
        </p:nvSpPr>
        <p:spPr>
          <a:xfrm>
            <a:off x="5852160" y="2103120"/>
            <a:ext cx="2651760" cy="2286000"/>
          </a:xfrm>
          <a:prstGeom prst="rect">
            <a:avLst/>
          </a:prstGeom>
          <a:noFill/>
          <a:ln/>
        </p:spPr>
        <p:txBody>
          <a:bodyPr wrap="square" lIns="0" tIns="0" rIns="0" bIns="0" rtlCol="0" anchor="ctr"/>
          <a:lstStyle/>
          <a:p>
            <a:pPr indent="0" marL="0">
              <a:lnSpc>
                <a:spcPct val="135000"/>
              </a:lnSpc>
              <a:buNone/>
            </a:pPr>
            <a:r>
              <a:rPr lang="en-US" sz="1100" dirty="0">
                <a:solidFill>
                  <a:srgbClr val="CADCFC"/>
                </a:solidFill>
                <a:latin typeface="Calibri" pitchFamily="34" charset="0"/>
                <a:ea typeface="Calibri" pitchFamily="34" charset="-122"/>
                <a:cs typeface="Calibri" pitchFamily="34" charset="-120"/>
              </a:rPr>
              <a:t>Detecting statistically anomalous insurance claims before they result in erroneous reimbursements.</a:t>
            </a:r>
            <a:endParaRPr lang="en-US" sz="1100" dirty="0"/>
          </a:p>
          <a:p>
            <a:pPr indent="0" marL="0">
              <a:lnSpc>
                <a:spcPct val="135000"/>
              </a:lnSpc>
              <a:buNone/>
            </a:pPr>
            <a:endParaRPr lang="en-US" sz="1100" dirty="0"/>
          </a:p>
          <a:p>
            <a:pPr indent="0" marL="0">
              <a:lnSpc>
                <a:spcPct val="135000"/>
              </a:lnSpc>
              <a:buNone/>
            </a:pPr>
            <a:r>
              <a:rPr lang="en-US" sz="1100" dirty="0">
                <a:solidFill>
                  <a:srgbClr val="CADCFC"/>
                </a:solidFill>
                <a:latin typeface="Calibri" pitchFamily="34" charset="0"/>
                <a:ea typeface="Calibri" pitchFamily="34" charset="-122"/>
                <a:cs typeface="Calibri" pitchFamily="34" charset="-120"/>
              </a:rPr>
              <a:t>Technique: Isolation Forest — unsupervised, no fraud labels required.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Why This Problem Is Urgent Right Now</a:t>
            </a:r>
            <a:endParaRPr lang="en-US" sz="3400" dirty="0"/>
          </a:p>
        </p:txBody>
      </p:sp>
      <p:sp>
        <p:nvSpPr>
          <p:cNvPr id="3" name="Shape 1"/>
          <p:cNvSpPr/>
          <p:nvPr/>
        </p:nvSpPr>
        <p:spPr>
          <a:xfrm>
            <a:off x="411480" y="1097280"/>
            <a:ext cx="2697480" cy="3657600"/>
          </a:xfrm>
          <a:prstGeom prst="roundRect">
            <a:avLst>
              <a:gd name="adj" fmla="val 4746"/>
            </a:avLst>
          </a:prstGeom>
          <a:solidFill>
            <a:srgbClr val="0D2137"/>
          </a:solidFill>
          <a:ln/>
        </p:spPr>
      </p:sp>
      <p:sp>
        <p:nvSpPr>
          <p:cNvPr id="4" name="Text 2"/>
          <p:cNvSpPr/>
          <p:nvPr/>
        </p:nvSpPr>
        <p:spPr>
          <a:xfrm>
            <a:off x="411480" y="1371600"/>
            <a:ext cx="2697480" cy="914400"/>
          </a:xfrm>
          <a:prstGeom prst="rect">
            <a:avLst/>
          </a:prstGeom>
          <a:noFill/>
          <a:ln/>
        </p:spPr>
        <p:txBody>
          <a:bodyPr wrap="square" rtlCol="0" anchor="ctr"/>
          <a:lstStyle/>
          <a:p>
            <a:pPr algn="ctr" indent="0" marL="0">
              <a:buNone/>
            </a:pPr>
            <a:r>
              <a:rPr lang="en-US" sz="4600" b="1" dirty="0">
                <a:solidFill>
                  <a:srgbClr val="02C39A"/>
                </a:solidFill>
                <a:latin typeface="Cambria" pitchFamily="34" charset="0"/>
                <a:ea typeface="Cambria" pitchFamily="34" charset="-122"/>
                <a:cs typeface="Cambria" pitchFamily="34" charset="-120"/>
              </a:rPr>
              <a:t>$300B</a:t>
            </a:r>
            <a:endParaRPr lang="en-US" sz="4600" dirty="0"/>
          </a:p>
        </p:txBody>
      </p:sp>
      <p:sp>
        <p:nvSpPr>
          <p:cNvPr id="5" name="Text 3"/>
          <p:cNvSpPr/>
          <p:nvPr/>
        </p:nvSpPr>
        <p:spPr>
          <a:xfrm>
            <a:off x="548640" y="2377440"/>
            <a:ext cx="2423160" cy="777240"/>
          </a:xfrm>
          <a:prstGeom prst="rect">
            <a:avLst/>
          </a:prstGeom>
          <a:noFill/>
          <a:ln/>
        </p:spPr>
        <p:txBody>
          <a:bodyPr wrap="square" rtlCol="0" anchor="ctr"/>
          <a:lstStyle/>
          <a:p>
            <a:pPr algn="ctr" indent="0" marL="0">
              <a:lnSpc>
                <a:spcPct val="130000"/>
              </a:lnSpc>
              <a:buNone/>
            </a:pPr>
            <a:r>
              <a:rPr lang="en-US" sz="1200" b="1" dirty="0">
                <a:solidFill>
                  <a:srgbClr val="FFFFFF"/>
                </a:solidFill>
                <a:latin typeface="Calibri" pitchFamily="34" charset="0"/>
                <a:ea typeface="Calibri" pitchFamily="34" charset="-122"/>
                <a:cs typeface="Calibri" pitchFamily="34" charset="-120"/>
              </a:rPr>
              <a:t>Lost annually to healthcare fraud, waste &amp; abuse</a:t>
            </a:r>
            <a:endParaRPr lang="en-US" sz="1200" dirty="0"/>
          </a:p>
        </p:txBody>
      </p:sp>
      <p:sp>
        <p:nvSpPr>
          <p:cNvPr id="6" name="Shape 4"/>
          <p:cNvSpPr/>
          <p:nvPr/>
        </p:nvSpPr>
        <p:spPr>
          <a:xfrm>
            <a:off x="960120" y="3218688"/>
            <a:ext cx="1600200" cy="0"/>
          </a:xfrm>
          <a:prstGeom prst="line">
            <a:avLst/>
          </a:prstGeom>
          <a:noFill/>
          <a:ln w="9525">
            <a:solidFill>
              <a:srgbClr val="1C7293"/>
            </a:solidFill>
            <a:prstDash val="solid"/>
          </a:ln>
        </p:spPr>
      </p:sp>
      <p:sp>
        <p:nvSpPr>
          <p:cNvPr id="7" name="Text 5"/>
          <p:cNvSpPr/>
          <p:nvPr/>
        </p:nvSpPr>
        <p:spPr>
          <a:xfrm>
            <a:off x="548640" y="3337560"/>
            <a:ext cx="2423160" cy="1280160"/>
          </a:xfrm>
          <a:prstGeom prst="rect">
            <a:avLst/>
          </a:prstGeom>
          <a:noFill/>
          <a:ln/>
        </p:spPr>
        <p:txBody>
          <a:bodyPr wrap="square" rtlCol="0" anchor="ctr"/>
          <a:lstStyle/>
          <a:p>
            <a:pPr algn="ctr" indent="0" marL="0">
              <a:lnSpc>
                <a:spcPct val="130000"/>
              </a:lnSpc>
              <a:buNone/>
            </a:pPr>
            <a:r>
              <a:rPr lang="en-US" sz="1000" dirty="0">
                <a:solidFill>
                  <a:srgbClr val="7AAABB"/>
                </a:solidFill>
                <a:latin typeface="Calibri" pitchFamily="34" charset="0"/>
                <a:ea typeface="Calibri" pitchFamily="34" charset="-122"/>
                <a:cs typeface="Calibri" pitchFamily="34" charset="-120"/>
              </a:rPr>
              <a:t>FBI, 2024 — Payers are expected to show proactive detection, not just post-payment recovery.</a:t>
            </a:r>
            <a:endParaRPr lang="en-US" sz="1000" dirty="0"/>
          </a:p>
        </p:txBody>
      </p:sp>
      <p:sp>
        <p:nvSpPr>
          <p:cNvPr id="8" name="Shape 6"/>
          <p:cNvSpPr/>
          <p:nvPr/>
        </p:nvSpPr>
        <p:spPr>
          <a:xfrm>
            <a:off x="3337560" y="1097280"/>
            <a:ext cx="2697480" cy="3657600"/>
          </a:xfrm>
          <a:prstGeom prst="roundRect">
            <a:avLst>
              <a:gd name="adj" fmla="val 4746"/>
            </a:avLst>
          </a:prstGeom>
          <a:solidFill>
            <a:srgbClr val="0D2137"/>
          </a:solidFill>
          <a:ln/>
        </p:spPr>
      </p:sp>
      <p:sp>
        <p:nvSpPr>
          <p:cNvPr id="9" name="Text 7"/>
          <p:cNvSpPr/>
          <p:nvPr/>
        </p:nvSpPr>
        <p:spPr>
          <a:xfrm>
            <a:off x="3337560" y="1371600"/>
            <a:ext cx="2697480" cy="914400"/>
          </a:xfrm>
          <a:prstGeom prst="rect">
            <a:avLst/>
          </a:prstGeom>
          <a:noFill/>
          <a:ln/>
        </p:spPr>
        <p:txBody>
          <a:bodyPr wrap="square" rtlCol="0" anchor="ctr"/>
          <a:lstStyle/>
          <a:p>
            <a:pPr algn="ctr" indent="0" marL="0">
              <a:buNone/>
            </a:pPr>
            <a:r>
              <a:rPr lang="en-US" sz="4600" b="1" dirty="0">
                <a:solidFill>
                  <a:srgbClr val="02C39A"/>
                </a:solidFill>
                <a:latin typeface="Cambria" pitchFamily="34" charset="0"/>
                <a:ea typeface="Cambria" pitchFamily="34" charset="-122"/>
                <a:cs typeface="Cambria" pitchFamily="34" charset="-120"/>
              </a:rPr>
              <a:t>$2.9B</a:t>
            </a:r>
            <a:endParaRPr lang="en-US" sz="4600" dirty="0"/>
          </a:p>
        </p:txBody>
      </p:sp>
      <p:sp>
        <p:nvSpPr>
          <p:cNvPr id="10" name="Text 8"/>
          <p:cNvSpPr/>
          <p:nvPr/>
        </p:nvSpPr>
        <p:spPr>
          <a:xfrm>
            <a:off x="3474720" y="2377440"/>
            <a:ext cx="2423160" cy="777240"/>
          </a:xfrm>
          <a:prstGeom prst="rect">
            <a:avLst/>
          </a:prstGeom>
          <a:noFill/>
          <a:ln/>
        </p:spPr>
        <p:txBody>
          <a:bodyPr wrap="square" rtlCol="0" anchor="ctr"/>
          <a:lstStyle/>
          <a:p>
            <a:pPr algn="ctr" indent="0" marL="0">
              <a:lnSpc>
                <a:spcPct val="130000"/>
              </a:lnSpc>
              <a:buNone/>
            </a:pPr>
            <a:r>
              <a:rPr lang="en-US" sz="1200" b="1" dirty="0">
                <a:solidFill>
                  <a:srgbClr val="FFFFFF"/>
                </a:solidFill>
                <a:latin typeface="Calibri" pitchFamily="34" charset="0"/>
                <a:ea typeface="Calibri" pitchFamily="34" charset="-122"/>
                <a:cs typeface="Calibri" pitchFamily="34" charset="-120"/>
              </a:rPr>
              <a:t>DOJ False Claims Act recoveries in FY2023 alone</a:t>
            </a:r>
            <a:endParaRPr lang="en-US" sz="1200" dirty="0"/>
          </a:p>
        </p:txBody>
      </p:sp>
      <p:sp>
        <p:nvSpPr>
          <p:cNvPr id="11" name="Shape 9"/>
          <p:cNvSpPr/>
          <p:nvPr/>
        </p:nvSpPr>
        <p:spPr>
          <a:xfrm>
            <a:off x="3886200" y="3218688"/>
            <a:ext cx="1600200" cy="0"/>
          </a:xfrm>
          <a:prstGeom prst="line">
            <a:avLst/>
          </a:prstGeom>
          <a:noFill/>
          <a:ln w="9525">
            <a:solidFill>
              <a:srgbClr val="1C7293"/>
            </a:solidFill>
            <a:prstDash val="solid"/>
          </a:ln>
        </p:spPr>
      </p:sp>
      <p:sp>
        <p:nvSpPr>
          <p:cNvPr id="12" name="Text 10"/>
          <p:cNvSpPr/>
          <p:nvPr/>
        </p:nvSpPr>
        <p:spPr>
          <a:xfrm>
            <a:off x="3474720" y="3337560"/>
            <a:ext cx="2423160" cy="1280160"/>
          </a:xfrm>
          <a:prstGeom prst="rect">
            <a:avLst/>
          </a:prstGeom>
          <a:noFill/>
          <a:ln/>
        </p:spPr>
        <p:txBody>
          <a:bodyPr wrap="square" rtlCol="0" anchor="ctr"/>
          <a:lstStyle/>
          <a:p>
            <a:pPr algn="ctr" indent="0" marL="0">
              <a:lnSpc>
                <a:spcPct val="130000"/>
              </a:lnSpc>
              <a:buNone/>
            </a:pPr>
            <a:r>
              <a:rPr lang="en-US" sz="1000" dirty="0">
                <a:solidFill>
                  <a:srgbClr val="7AAABB"/>
                </a:solidFill>
                <a:latin typeface="Calibri" pitchFamily="34" charset="0"/>
                <a:ea typeface="Calibri" pitchFamily="34" charset="-122"/>
                <a:cs typeface="Calibri" pitchFamily="34" charset="-120"/>
              </a:rPr>
              <a:t>DOJ, 2024 — Enforcement is intensifying. Algorithmic detection capability is now table stakes.</a:t>
            </a:r>
            <a:endParaRPr lang="en-US" sz="1000" dirty="0"/>
          </a:p>
        </p:txBody>
      </p:sp>
      <p:sp>
        <p:nvSpPr>
          <p:cNvPr id="13" name="Shape 11"/>
          <p:cNvSpPr/>
          <p:nvPr/>
        </p:nvSpPr>
        <p:spPr>
          <a:xfrm>
            <a:off x="6263640" y="1097280"/>
            <a:ext cx="2697480" cy="3657600"/>
          </a:xfrm>
          <a:prstGeom prst="roundRect">
            <a:avLst>
              <a:gd name="adj" fmla="val 4746"/>
            </a:avLst>
          </a:prstGeom>
          <a:solidFill>
            <a:srgbClr val="0D2137"/>
          </a:solidFill>
          <a:ln/>
        </p:spPr>
      </p:sp>
      <p:sp>
        <p:nvSpPr>
          <p:cNvPr id="14" name="Text 12"/>
          <p:cNvSpPr/>
          <p:nvPr/>
        </p:nvSpPr>
        <p:spPr>
          <a:xfrm>
            <a:off x="6263640" y="1371600"/>
            <a:ext cx="2697480" cy="914400"/>
          </a:xfrm>
          <a:prstGeom prst="rect">
            <a:avLst/>
          </a:prstGeom>
          <a:noFill/>
          <a:ln/>
        </p:spPr>
        <p:txBody>
          <a:bodyPr wrap="square" rtlCol="0" anchor="ctr"/>
          <a:lstStyle/>
          <a:p>
            <a:pPr algn="ctr" indent="0" marL="0">
              <a:buNone/>
            </a:pPr>
            <a:r>
              <a:rPr lang="en-US" sz="4600" b="1" dirty="0">
                <a:solidFill>
                  <a:srgbClr val="02C39A"/>
                </a:solidFill>
                <a:latin typeface="Cambria" pitchFamily="34" charset="0"/>
                <a:ea typeface="Cambria" pitchFamily="34" charset="-122"/>
                <a:cs typeface="Cambria" pitchFamily="34" charset="-120"/>
              </a:rPr>
              <a:t>XAI</a:t>
            </a:r>
            <a:endParaRPr lang="en-US" sz="4600" dirty="0"/>
          </a:p>
        </p:txBody>
      </p:sp>
      <p:sp>
        <p:nvSpPr>
          <p:cNvPr id="15" name="Text 13"/>
          <p:cNvSpPr/>
          <p:nvPr/>
        </p:nvSpPr>
        <p:spPr>
          <a:xfrm>
            <a:off x="6400800" y="2377440"/>
            <a:ext cx="2423160" cy="777240"/>
          </a:xfrm>
          <a:prstGeom prst="rect">
            <a:avLst/>
          </a:prstGeom>
          <a:noFill/>
          <a:ln/>
        </p:spPr>
        <p:txBody>
          <a:bodyPr wrap="square" rtlCol="0" anchor="ctr"/>
          <a:lstStyle/>
          <a:p>
            <a:pPr algn="ctr" indent="0" marL="0">
              <a:lnSpc>
                <a:spcPct val="130000"/>
              </a:lnSpc>
              <a:buNone/>
            </a:pPr>
            <a:r>
              <a:rPr lang="en-US" sz="1200" b="1" dirty="0">
                <a:solidFill>
                  <a:srgbClr val="FFFFFF"/>
                </a:solidFill>
                <a:latin typeface="Calibri" pitchFamily="34" charset="0"/>
                <a:ea typeface="Calibri" pitchFamily="34" charset="-122"/>
                <a:cs typeface="Calibri" pitchFamily="34" charset="-120"/>
              </a:rPr>
              <a:t>Explainable AI is unlocking compliance-ready ML</a:t>
            </a:r>
            <a:endParaRPr lang="en-US" sz="1200" dirty="0"/>
          </a:p>
        </p:txBody>
      </p:sp>
      <p:sp>
        <p:nvSpPr>
          <p:cNvPr id="16" name="Shape 14"/>
          <p:cNvSpPr/>
          <p:nvPr/>
        </p:nvSpPr>
        <p:spPr>
          <a:xfrm>
            <a:off x="6812280" y="3218688"/>
            <a:ext cx="1600200" cy="0"/>
          </a:xfrm>
          <a:prstGeom prst="line">
            <a:avLst/>
          </a:prstGeom>
          <a:noFill/>
          <a:ln w="9525">
            <a:solidFill>
              <a:srgbClr val="1C7293"/>
            </a:solidFill>
            <a:prstDash val="solid"/>
          </a:ln>
        </p:spPr>
      </p:sp>
      <p:sp>
        <p:nvSpPr>
          <p:cNvPr id="17" name="Text 15"/>
          <p:cNvSpPr/>
          <p:nvPr/>
        </p:nvSpPr>
        <p:spPr>
          <a:xfrm>
            <a:off x="6400800" y="3337560"/>
            <a:ext cx="2423160" cy="1280160"/>
          </a:xfrm>
          <a:prstGeom prst="rect">
            <a:avLst/>
          </a:prstGeom>
          <a:noFill/>
          <a:ln/>
        </p:spPr>
        <p:txBody>
          <a:bodyPr wrap="square" rtlCol="0" anchor="ctr"/>
          <a:lstStyle/>
          <a:p>
            <a:pPr algn="ctr" indent="0" marL="0">
              <a:lnSpc>
                <a:spcPct val="130000"/>
              </a:lnSpc>
              <a:buNone/>
            </a:pPr>
            <a:r>
              <a:rPr lang="en-US" sz="1000" dirty="0">
                <a:solidFill>
                  <a:srgbClr val="7AAABB"/>
                </a:solidFill>
                <a:latin typeface="Calibri" pitchFamily="34" charset="0"/>
                <a:ea typeface="Calibri" pitchFamily="34" charset="-122"/>
                <a:cs typeface="Calibri" pitchFamily="34" charset="-120"/>
              </a:rPr>
              <a:t>SHAP &amp; LIME resolve the black-box problem — every flag can now carry a plain-English audit rationale.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3400" b="1" dirty="0">
                <a:solidFill>
                  <a:srgbClr val="0A1628"/>
                </a:solidFill>
                <a:latin typeface="Cambria" pitchFamily="34" charset="0"/>
                <a:ea typeface="Cambria" pitchFamily="34" charset="-122"/>
                <a:cs typeface="Cambria" pitchFamily="34" charset="-120"/>
              </a:rPr>
              <a:t>How the Proof-of-Concept Works</a:t>
            </a:r>
            <a:endParaRPr lang="en-US" sz="3400" dirty="0"/>
          </a:p>
        </p:txBody>
      </p:sp>
      <p:sp>
        <p:nvSpPr>
          <p:cNvPr id="3" name="Shape 1"/>
          <p:cNvSpPr/>
          <p:nvPr/>
        </p:nvSpPr>
        <p:spPr>
          <a:xfrm>
            <a:off x="411480" y="1143000"/>
            <a:ext cx="1965960" cy="3474720"/>
          </a:xfrm>
          <a:prstGeom prst="roundRect">
            <a:avLst>
              <a:gd name="adj" fmla="val 5581"/>
            </a:avLst>
          </a:prstGeom>
          <a:solidFill>
            <a:srgbClr val="FFFFFF"/>
          </a:solidFill>
          <a:ln/>
          <a:effectLst>
            <a:outerShdw sx="100000" sy="100000" kx="0" ky="0" algn="bl" rotWithShape="0" blurRad="101600" dist="25400" dir="2700000">
              <a:srgbClr val="000000">
                <a:alpha val="10000"/>
              </a:srgbClr>
            </a:outerShdw>
          </a:effectLst>
        </p:spPr>
      </p:sp>
      <p:sp>
        <p:nvSpPr>
          <p:cNvPr id="4" name="Shape 2"/>
          <p:cNvSpPr/>
          <p:nvPr/>
        </p:nvSpPr>
        <p:spPr>
          <a:xfrm>
            <a:off x="1051560" y="1298448"/>
            <a:ext cx="658368" cy="658368"/>
          </a:xfrm>
          <a:prstGeom prst="ellipse">
            <a:avLst/>
          </a:prstGeom>
          <a:solidFill>
            <a:srgbClr val="065A82"/>
          </a:solidFill>
          <a:ln w="12700">
            <a:solidFill>
              <a:srgbClr val="065A82"/>
            </a:solidFill>
            <a:prstDash val="solid"/>
          </a:ln>
        </p:spPr>
      </p:sp>
      <p:sp>
        <p:nvSpPr>
          <p:cNvPr id="5" name="Text 3"/>
          <p:cNvSpPr/>
          <p:nvPr/>
        </p:nvSpPr>
        <p:spPr>
          <a:xfrm>
            <a:off x="1051560" y="1298448"/>
            <a:ext cx="658368" cy="65836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521208" y="2084832"/>
            <a:ext cx="1755648" cy="411480"/>
          </a:xfrm>
          <a:prstGeom prst="rect">
            <a:avLst/>
          </a:prstGeom>
          <a:no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Data Load</a:t>
            </a:r>
            <a:endParaRPr lang="en-US" sz="1200" dirty="0"/>
          </a:p>
        </p:txBody>
      </p:sp>
      <p:sp>
        <p:nvSpPr>
          <p:cNvPr id="7" name="Text 5"/>
          <p:cNvSpPr/>
          <p:nvPr/>
        </p:nvSpPr>
        <p:spPr>
          <a:xfrm>
            <a:off x="521208" y="2578608"/>
            <a:ext cx="1755648" cy="1828800"/>
          </a:xfrm>
          <a:prstGeom prst="rect">
            <a:avLst/>
          </a:prstGeom>
          <a:noFill/>
          <a:ln/>
        </p:spPr>
        <p:txBody>
          <a:bodyPr wrap="square" lIns="0" tIns="0" rIns="0" bIns="0" rtlCol="0" anchor="ctr"/>
          <a:lstStyle/>
          <a:p>
            <a:pPr algn="ctr" indent="0" marL="0">
              <a:lnSpc>
                <a:spcPct val="135000"/>
              </a:lnSpc>
              <a:buNone/>
            </a:pPr>
            <a:r>
              <a:rPr lang="en-US" sz="1000" dirty="0">
                <a:solidFill>
                  <a:srgbClr val="64748B"/>
                </a:solidFill>
                <a:latin typeface="Calibri" pitchFamily="34" charset="0"/>
                <a:ea typeface="Calibri" pitchFamily="34" charset="-122"/>
                <a:cs typeface="Calibri" pitchFamily="34" charset="-120"/>
              </a:rPr>
              <a:t>Kaggle Healthcare Dataset</a:t>
            </a:r>
            <a:endParaRPr lang="en-US" sz="1000" dirty="0"/>
          </a:p>
          <a:p>
            <a:pPr algn="ctr" indent="0" marL="0">
              <a:lnSpc>
                <a:spcPct val="135000"/>
              </a:lnSpc>
              <a:buNone/>
            </a:pPr>
            <a:r>
              <a:rPr lang="en-US" sz="1000" dirty="0">
                <a:solidFill>
                  <a:srgbClr val="64748B"/>
                </a:solidFill>
                <a:latin typeface="Calibri" pitchFamily="34" charset="0"/>
                <a:ea typeface="Calibri" pitchFamily="34" charset="-122"/>
                <a:cs typeface="Calibri" pitchFamily="34" charset="-120"/>
              </a:rPr>
              <a:t>~10,000 records</a:t>
            </a:r>
            <a:endParaRPr lang="en-US" sz="1000" dirty="0"/>
          </a:p>
          <a:p>
            <a:pPr algn="ctr" indent="0" marL="0">
              <a:lnSpc>
                <a:spcPct val="135000"/>
              </a:lnSpc>
              <a:buNone/>
            </a:pPr>
            <a:r>
              <a:rPr lang="en-US" sz="1000" dirty="0">
                <a:solidFill>
                  <a:srgbClr val="64748B"/>
                </a:solidFill>
                <a:latin typeface="Calibri" pitchFamily="34" charset="0"/>
                <a:ea typeface="Calibri" pitchFamily="34" charset="-122"/>
                <a:cs typeface="Calibri" pitchFamily="34" charset="-120"/>
              </a:rPr>
              <a:t>Admissions, billing, conditions, insurers</a:t>
            </a:r>
            <a:endParaRPr lang="en-US" sz="1000" dirty="0"/>
          </a:p>
        </p:txBody>
      </p:sp>
      <p:sp>
        <p:nvSpPr>
          <p:cNvPr id="8" name="Shape 6"/>
          <p:cNvSpPr/>
          <p:nvPr/>
        </p:nvSpPr>
        <p:spPr>
          <a:xfrm>
            <a:off x="2377440" y="2880360"/>
            <a:ext cx="228600" cy="0"/>
          </a:xfrm>
          <a:prstGeom prst="line">
            <a:avLst/>
          </a:prstGeom>
          <a:noFill/>
          <a:ln w="19050">
            <a:solidFill>
              <a:srgbClr val="1C7293"/>
            </a:solidFill>
            <a:prstDash val="solid"/>
          </a:ln>
        </p:spPr>
      </p:sp>
      <p:sp>
        <p:nvSpPr>
          <p:cNvPr id="9" name="Shape 7"/>
          <p:cNvSpPr/>
          <p:nvPr/>
        </p:nvSpPr>
        <p:spPr>
          <a:xfrm>
            <a:off x="2606040" y="1143000"/>
            <a:ext cx="1965960" cy="3474720"/>
          </a:xfrm>
          <a:prstGeom prst="roundRect">
            <a:avLst>
              <a:gd name="adj" fmla="val 5581"/>
            </a:avLst>
          </a:prstGeom>
          <a:solidFill>
            <a:srgbClr val="FFFFFF"/>
          </a:solidFill>
          <a:ln/>
          <a:effectLst>
            <a:outerShdw sx="100000" sy="100000" kx="0" ky="0" algn="bl" rotWithShape="0" blurRad="101600" dist="25400" dir="2700000">
              <a:srgbClr val="000000">
                <a:alpha val="10000"/>
              </a:srgbClr>
            </a:outerShdw>
          </a:effectLst>
        </p:spPr>
      </p:sp>
      <p:sp>
        <p:nvSpPr>
          <p:cNvPr id="10" name="Shape 8"/>
          <p:cNvSpPr/>
          <p:nvPr/>
        </p:nvSpPr>
        <p:spPr>
          <a:xfrm>
            <a:off x="3246120" y="1298448"/>
            <a:ext cx="658368" cy="658368"/>
          </a:xfrm>
          <a:prstGeom prst="ellipse">
            <a:avLst/>
          </a:prstGeom>
          <a:solidFill>
            <a:srgbClr val="065A82"/>
          </a:solidFill>
          <a:ln w="12700">
            <a:solidFill>
              <a:srgbClr val="065A82"/>
            </a:solidFill>
            <a:prstDash val="solid"/>
          </a:ln>
        </p:spPr>
      </p:sp>
      <p:sp>
        <p:nvSpPr>
          <p:cNvPr id="11" name="Text 9"/>
          <p:cNvSpPr/>
          <p:nvPr/>
        </p:nvSpPr>
        <p:spPr>
          <a:xfrm>
            <a:off x="3246120" y="1298448"/>
            <a:ext cx="658368" cy="65836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2715768" y="2084832"/>
            <a:ext cx="1755648" cy="411480"/>
          </a:xfrm>
          <a:prstGeom prst="rect">
            <a:avLst/>
          </a:prstGeom>
          <a:no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Feature Engineering</a:t>
            </a:r>
            <a:endParaRPr lang="en-US" sz="1200" dirty="0"/>
          </a:p>
        </p:txBody>
      </p:sp>
      <p:sp>
        <p:nvSpPr>
          <p:cNvPr id="13" name="Text 11"/>
          <p:cNvSpPr/>
          <p:nvPr/>
        </p:nvSpPr>
        <p:spPr>
          <a:xfrm>
            <a:off x="2715768" y="2578608"/>
            <a:ext cx="1755648" cy="1828800"/>
          </a:xfrm>
          <a:prstGeom prst="rect">
            <a:avLst/>
          </a:prstGeom>
          <a:noFill/>
          <a:ln/>
        </p:spPr>
        <p:txBody>
          <a:bodyPr wrap="square" lIns="0" tIns="0" rIns="0" bIns="0" rtlCol="0" anchor="ctr"/>
          <a:lstStyle/>
          <a:p>
            <a:pPr algn="ctr" indent="0" marL="0">
              <a:lnSpc>
                <a:spcPct val="135000"/>
              </a:lnSpc>
              <a:buNone/>
            </a:pPr>
            <a:r>
              <a:rPr lang="en-US" sz="1000" dirty="0">
                <a:solidFill>
                  <a:srgbClr val="64748B"/>
                </a:solidFill>
                <a:latin typeface="Calibri" pitchFamily="34" charset="0"/>
                <a:ea typeface="Calibri" pitchFamily="34" charset="-122"/>
                <a:cs typeface="Calibri" pitchFamily="34" charset="-120"/>
              </a:rPr>
              <a:t>Billing Z-score vs insurer+condition avg</a:t>
            </a:r>
            <a:endParaRPr lang="en-US" sz="1000" dirty="0"/>
          </a:p>
          <a:p>
            <a:pPr algn="ctr" indent="0" marL="0">
              <a:lnSpc>
                <a:spcPct val="135000"/>
              </a:lnSpc>
              <a:buNone/>
            </a:pPr>
            <a:r>
              <a:rPr lang="en-US" sz="1000" dirty="0">
                <a:solidFill>
                  <a:srgbClr val="64748B"/>
                </a:solidFill>
                <a:latin typeface="Calibri" pitchFamily="34" charset="0"/>
                <a:ea typeface="Calibri" pitchFamily="34" charset="-122"/>
                <a:cs typeface="Calibri" pitchFamily="34" charset="-120"/>
              </a:rPr>
              <a:t>Billing ratio vs insurer mean</a:t>
            </a:r>
            <a:endParaRPr lang="en-US" sz="1000" dirty="0"/>
          </a:p>
          <a:p>
            <a:pPr algn="ctr" indent="0" marL="0">
              <a:lnSpc>
                <a:spcPct val="135000"/>
              </a:lnSpc>
              <a:buNone/>
            </a:pPr>
            <a:r>
              <a:rPr lang="en-US" sz="1000" dirty="0">
                <a:solidFill>
                  <a:srgbClr val="64748B"/>
                </a:solidFill>
                <a:latin typeface="Calibri" pitchFamily="34" charset="0"/>
                <a:ea typeface="Calibri" pitchFamily="34" charset="-122"/>
                <a:cs typeface="Calibri" pitchFamily="34" charset="-120"/>
              </a:rPr>
              <a:t>Length of stay (clinical context)</a:t>
            </a:r>
            <a:endParaRPr lang="en-US" sz="1000" dirty="0"/>
          </a:p>
        </p:txBody>
      </p:sp>
      <p:sp>
        <p:nvSpPr>
          <p:cNvPr id="14" name="Shape 12"/>
          <p:cNvSpPr/>
          <p:nvPr/>
        </p:nvSpPr>
        <p:spPr>
          <a:xfrm>
            <a:off x="4572000" y="2880360"/>
            <a:ext cx="228600" cy="0"/>
          </a:xfrm>
          <a:prstGeom prst="line">
            <a:avLst/>
          </a:prstGeom>
          <a:noFill/>
          <a:ln w="19050">
            <a:solidFill>
              <a:srgbClr val="1C7293"/>
            </a:solidFill>
            <a:prstDash val="solid"/>
          </a:ln>
        </p:spPr>
      </p:sp>
      <p:sp>
        <p:nvSpPr>
          <p:cNvPr id="15" name="Shape 13"/>
          <p:cNvSpPr/>
          <p:nvPr/>
        </p:nvSpPr>
        <p:spPr>
          <a:xfrm>
            <a:off x="4800600" y="1143000"/>
            <a:ext cx="1965960" cy="3474720"/>
          </a:xfrm>
          <a:prstGeom prst="roundRect">
            <a:avLst>
              <a:gd name="adj" fmla="val 5581"/>
            </a:avLst>
          </a:prstGeom>
          <a:solidFill>
            <a:srgbClr val="FFFFFF"/>
          </a:solidFill>
          <a:ln/>
          <a:effectLst>
            <a:outerShdw sx="100000" sy="100000" kx="0" ky="0" algn="bl" rotWithShape="0" blurRad="101600" dist="25400" dir="2700000">
              <a:srgbClr val="000000">
                <a:alpha val="10000"/>
              </a:srgbClr>
            </a:outerShdw>
          </a:effectLst>
        </p:spPr>
      </p:sp>
      <p:sp>
        <p:nvSpPr>
          <p:cNvPr id="16" name="Shape 14"/>
          <p:cNvSpPr/>
          <p:nvPr/>
        </p:nvSpPr>
        <p:spPr>
          <a:xfrm>
            <a:off x="5440680" y="1298448"/>
            <a:ext cx="658368" cy="658368"/>
          </a:xfrm>
          <a:prstGeom prst="ellipse">
            <a:avLst/>
          </a:prstGeom>
          <a:solidFill>
            <a:srgbClr val="065A82"/>
          </a:solidFill>
          <a:ln w="12700">
            <a:solidFill>
              <a:srgbClr val="065A82"/>
            </a:solidFill>
            <a:prstDash val="solid"/>
          </a:ln>
        </p:spPr>
      </p:sp>
      <p:sp>
        <p:nvSpPr>
          <p:cNvPr id="17" name="Text 15"/>
          <p:cNvSpPr/>
          <p:nvPr/>
        </p:nvSpPr>
        <p:spPr>
          <a:xfrm>
            <a:off x="5440680" y="1298448"/>
            <a:ext cx="658368" cy="65836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4910328" y="2084832"/>
            <a:ext cx="1755648" cy="411480"/>
          </a:xfrm>
          <a:prstGeom prst="rect">
            <a:avLst/>
          </a:prstGeom>
          <a:no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Isolation Forest</a:t>
            </a:r>
            <a:endParaRPr lang="en-US" sz="1200" dirty="0"/>
          </a:p>
        </p:txBody>
      </p:sp>
      <p:sp>
        <p:nvSpPr>
          <p:cNvPr id="19" name="Text 17"/>
          <p:cNvSpPr/>
          <p:nvPr/>
        </p:nvSpPr>
        <p:spPr>
          <a:xfrm>
            <a:off x="4910328" y="2578608"/>
            <a:ext cx="1755648" cy="1828800"/>
          </a:xfrm>
          <a:prstGeom prst="rect">
            <a:avLst/>
          </a:prstGeom>
          <a:noFill/>
          <a:ln/>
        </p:spPr>
        <p:txBody>
          <a:bodyPr wrap="square" lIns="0" tIns="0" rIns="0" bIns="0" rtlCol="0" anchor="ctr"/>
          <a:lstStyle/>
          <a:p>
            <a:pPr algn="ctr" indent="0" marL="0">
              <a:lnSpc>
                <a:spcPct val="135000"/>
              </a:lnSpc>
              <a:buNone/>
            </a:pPr>
            <a:r>
              <a:rPr lang="en-US" sz="1000" dirty="0">
                <a:solidFill>
                  <a:srgbClr val="64748B"/>
                </a:solidFill>
                <a:latin typeface="Calibri" pitchFamily="34" charset="0"/>
                <a:ea typeface="Calibri" pitchFamily="34" charset="-122"/>
                <a:cs typeface="Calibri" pitchFamily="34" charset="-120"/>
              </a:rPr>
              <a:t>200 trees, 5% contamination rate</a:t>
            </a:r>
            <a:endParaRPr lang="en-US" sz="1000" dirty="0"/>
          </a:p>
          <a:p>
            <a:pPr algn="ctr" indent="0" marL="0">
              <a:lnSpc>
                <a:spcPct val="135000"/>
              </a:lnSpc>
              <a:buNone/>
            </a:pPr>
            <a:r>
              <a:rPr lang="en-US" sz="1000" dirty="0">
                <a:solidFill>
                  <a:srgbClr val="64748B"/>
                </a:solidFill>
                <a:latin typeface="Calibri" pitchFamily="34" charset="0"/>
                <a:ea typeface="Calibri" pitchFamily="34" charset="-122"/>
                <a:cs typeface="Calibri" pitchFamily="34" charset="-120"/>
              </a:rPr>
              <a:t>Flags statistically anomalous claims</a:t>
            </a:r>
            <a:endParaRPr lang="en-US" sz="1000" dirty="0"/>
          </a:p>
          <a:p>
            <a:pPr algn="ctr" indent="0" marL="0">
              <a:lnSpc>
                <a:spcPct val="135000"/>
              </a:lnSpc>
              <a:buNone/>
            </a:pPr>
            <a:r>
              <a:rPr lang="en-US" sz="1000" dirty="0">
                <a:solidFill>
                  <a:srgbClr val="64748B"/>
                </a:solidFill>
                <a:latin typeface="Calibri" pitchFamily="34" charset="0"/>
                <a:ea typeface="Calibri" pitchFamily="34" charset="-122"/>
                <a:cs typeface="Calibri" pitchFamily="34" charset="-120"/>
              </a:rPr>
              <a:t>No fraud labels required</a:t>
            </a:r>
            <a:endParaRPr lang="en-US" sz="1000" dirty="0"/>
          </a:p>
        </p:txBody>
      </p:sp>
      <p:sp>
        <p:nvSpPr>
          <p:cNvPr id="20" name="Shape 18"/>
          <p:cNvSpPr/>
          <p:nvPr/>
        </p:nvSpPr>
        <p:spPr>
          <a:xfrm>
            <a:off x="6766560" y="2880360"/>
            <a:ext cx="228600" cy="0"/>
          </a:xfrm>
          <a:prstGeom prst="line">
            <a:avLst/>
          </a:prstGeom>
          <a:noFill/>
          <a:ln w="19050">
            <a:solidFill>
              <a:srgbClr val="1C7293"/>
            </a:solidFill>
            <a:prstDash val="solid"/>
          </a:ln>
        </p:spPr>
      </p:sp>
      <p:sp>
        <p:nvSpPr>
          <p:cNvPr id="21" name="Shape 19"/>
          <p:cNvSpPr/>
          <p:nvPr/>
        </p:nvSpPr>
        <p:spPr>
          <a:xfrm>
            <a:off x="6995160" y="1143000"/>
            <a:ext cx="1965960" cy="3474720"/>
          </a:xfrm>
          <a:prstGeom prst="roundRect">
            <a:avLst>
              <a:gd name="adj" fmla="val 5581"/>
            </a:avLst>
          </a:prstGeom>
          <a:solidFill>
            <a:srgbClr val="FFFFFF"/>
          </a:solidFill>
          <a:ln/>
          <a:effectLst>
            <a:outerShdw sx="100000" sy="100000" kx="0" ky="0" algn="bl" rotWithShape="0" blurRad="101600" dist="25400" dir="2700000">
              <a:srgbClr val="000000">
                <a:alpha val="10000"/>
              </a:srgbClr>
            </a:outerShdw>
          </a:effectLst>
        </p:spPr>
      </p:sp>
      <p:sp>
        <p:nvSpPr>
          <p:cNvPr id="22" name="Shape 20"/>
          <p:cNvSpPr/>
          <p:nvPr/>
        </p:nvSpPr>
        <p:spPr>
          <a:xfrm>
            <a:off x="7635240" y="1298448"/>
            <a:ext cx="658368" cy="658368"/>
          </a:xfrm>
          <a:prstGeom prst="ellipse">
            <a:avLst/>
          </a:prstGeom>
          <a:solidFill>
            <a:srgbClr val="065A82"/>
          </a:solidFill>
          <a:ln w="12700">
            <a:solidFill>
              <a:srgbClr val="065A82"/>
            </a:solidFill>
            <a:prstDash val="solid"/>
          </a:ln>
        </p:spPr>
      </p:sp>
      <p:sp>
        <p:nvSpPr>
          <p:cNvPr id="23" name="Text 21"/>
          <p:cNvSpPr/>
          <p:nvPr/>
        </p:nvSpPr>
        <p:spPr>
          <a:xfrm>
            <a:off x="7635240" y="1298448"/>
            <a:ext cx="658368" cy="658368"/>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Text 22"/>
          <p:cNvSpPr/>
          <p:nvPr/>
        </p:nvSpPr>
        <p:spPr>
          <a:xfrm>
            <a:off x="7104888" y="2084832"/>
            <a:ext cx="1755648" cy="411480"/>
          </a:xfrm>
          <a:prstGeom prst="rect">
            <a:avLst/>
          </a:prstGeom>
          <a:noFill/>
          <a:ln/>
        </p:spPr>
        <p:txBody>
          <a:bodyPr wrap="square" lIns="0" tIns="0" rIns="0" bIns="0"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SHAP Explainability</a:t>
            </a:r>
            <a:endParaRPr lang="en-US" sz="1200" dirty="0"/>
          </a:p>
        </p:txBody>
      </p:sp>
      <p:sp>
        <p:nvSpPr>
          <p:cNvPr id="25" name="Text 23"/>
          <p:cNvSpPr/>
          <p:nvPr/>
        </p:nvSpPr>
        <p:spPr>
          <a:xfrm>
            <a:off x="7104888" y="2578608"/>
            <a:ext cx="1755648" cy="1828800"/>
          </a:xfrm>
          <a:prstGeom prst="rect">
            <a:avLst/>
          </a:prstGeom>
          <a:noFill/>
          <a:ln/>
        </p:spPr>
        <p:txBody>
          <a:bodyPr wrap="square" lIns="0" tIns="0" rIns="0" bIns="0" rtlCol="0" anchor="ctr"/>
          <a:lstStyle/>
          <a:p>
            <a:pPr algn="ctr" indent="0" marL="0">
              <a:lnSpc>
                <a:spcPct val="135000"/>
              </a:lnSpc>
              <a:buNone/>
            </a:pPr>
            <a:r>
              <a:rPr lang="en-US" sz="1000" dirty="0">
                <a:solidFill>
                  <a:srgbClr val="64748B"/>
                </a:solidFill>
                <a:latin typeface="Calibri" pitchFamily="34" charset="0"/>
                <a:ea typeface="Calibri" pitchFamily="34" charset="-122"/>
                <a:cs typeface="Calibri" pitchFamily="34" charset="-120"/>
              </a:rPr>
              <a:t>Explains which features drove each flag</a:t>
            </a:r>
            <a:endParaRPr lang="en-US" sz="1000" dirty="0"/>
          </a:p>
          <a:p>
            <a:pPr algn="ctr" indent="0" marL="0">
              <a:lnSpc>
                <a:spcPct val="135000"/>
              </a:lnSpc>
              <a:buNone/>
            </a:pPr>
            <a:r>
              <a:rPr lang="en-US" sz="1000" dirty="0">
                <a:solidFill>
                  <a:srgbClr val="64748B"/>
                </a:solidFill>
                <a:latin typeface="Calibri" pitchFamily="34" charset="0"/>
                <a:ea typeface="Calibri" pitchFamily="34" charset="-122"/>
                <a:cs typeface="Calibri" pitchFamily="34" charset="-120"/>
              </a:rPr>
              <a:t>Turns black-box into audit narrative</a:t>
            </a:r>
            <a:endParaRPr lang="en-US" sz="1000" dirty="0"/>
          </a:p>
          <a:p>
            <a:pPr algn="ctr" indent="0" marL="0">
              <a:lnSpc>
                <a:spcPct val="135000"/>
              </a:lnSpc>
              <a:buNone/>
            </a:pPr>
            <a:r>
              <a:rPr lang="en-US" sz="1000" dirty="0">
                <a:solidFill>
                  <a:srgbClr val="64748B"/>
                </a:solidFill>
                <a:latin typeface="Calibri" pitchFamily="34" charset="0"/>
                <a:ea typeface="Calibri" pitchFamily="34" charset="-122"/>
                <a:cs typeface="Calibri" pitchFamily="34" charset="-120"/>
              </a:rPr>
              <a:t>Visual waterfall per claim</a:t>
            </a:r>
            <a:endParaRPr lang="en-US" sz="1000" dirty="0"/>
          </a:p>
        </p:txBody>
      </p:sp>
      <p:sp>
        <p:nvSpPr>
          <p:cNvPr id="26" name="Shape 24"/>
          <p:cNvSpPr/>
          <p:nvPr/>
        </p:nvSpPr>
        <p:spPr>
          <a:xfrm>
            <a:off x="411480" y="4681728"/>
            <a:ext cx="8321040" cy="384048"/>
          </a:xfrm>
          <a:prstGeom prst="roundRect">
            <a:avLst>
              <a:gd name="adj" fmla="val 23810"/>
            </a:avLst>
          </a:prstGeom>
          <a:solidFill>
            <a:srgbClr val="EBF8F4"/>
          </a:solidFill>
          <a:ln w="6350">
            <a:solidFill>
              <a:srgbClr val="02C39A"/>
            </a:solidFill>
            <a:prstDash val="solid"/>
          </a:ln>
        </p:spPr>
      </p:sp>
      <p:sp>
        <p:nvSpPr>
          <p:cNvPr id="27" name="Text 25"/>
          <p:cNvSpPr/>
          <p:nvPr/>
        </p:nvSpPr>
        <p:spPr>
          <a:xfrm>
            <a:off x="548640" y="4700016"/>
            <a:ext cx="8138160" cy="347472"/>
          </a:xfrm>
          <a:prstGeom prst="rect">
            <a:avLst/>
          </a:prstGeom>
          <a:noFill/>
          <a:ln/>
        </p:spPr>
        <p:txBody>
          <a:bodyPr wrap="square" lIns="0" tIns="0" rIns="0" bIns="0" rtlCol="0" anchor="ctr"/>
          <a:lstStyle/>
          <a:p>
            <a:pPr indent="0" marL="0">
              <a:buNone/>
            </a:pPr>
            <a:r>
              <a:rPr lang="en-US" sz="1000" dirty="0">
                <a:solidFill>
                  <a:srgbClr val="1C7293"/>
                </a:solidFill>
                <a:latin typeface="Calibri" pitchFamily="34" charset="0"/>
                <a:ea typeface="Calibri" pitchFamily="34" charset="-122"/>
                <a:cs typeface="Calibri" pitchFamily="34" charset="-120"/>
              </a:rPr>
              <a:t>Key design choice: Feature engineering matters more than model choice. A $15,000 claim is suspicious or normal depending entirely on context — which insurer, which condition, which admission type.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3400" b="1" dirty="0">
                <a:solidFill>
                  <a:srgbClr val="0A1628"/>
                </a:solidFill>
                <a:latin typeface="Cambria" pitchFamily="34" charset="0"/>
                <a:ea typeface="Cambria" pitchFamily="34" charset="-122"/>
                <a:cs typeface="Cambria" pitchFamily="34" charset="-120"/>
              </a:rPr>
              <a:t>What the Data Actually Showed</a:t>
            </a:r>
            <a:endParaRPr lang="en-US" sz="3400" dirty="0"/>
          </a:p>
        </p:txBody>
      </p:sp>
      <p:sp>
        <p:nvSpPr>
          <p:cNvPr id="3" name="Shape 1"/>
          <p:cNvSpPr/>
          <p:nvPr/>
        </p:nvSpPr>
        <p:spPr>
          <a:xfrm>
            <a:off x="411480" y="1097280"/>
            <a:ext cx="2697480" cy="1645920"/>
          </a:xfrm>
          <a:prstGeom prst="roundRect">
            <a:avLst>
              <a:gd name="adj" fmla="val 6667"/>
            </a:avLst>
          </a:prstGeom>
          <a:solidFill>
            <a:srgbClr val="FFFFFF"/>
          </a:solidFill>
          <a:ln/>
          <a:effectLst>
            <a:outerShdw sx="100000" sy="100000" kx="0" ky="0" algn="bl" rotWithShape="0" blurRad="101600" dist="25400" dir="2700000">
              <a:srgbClr val="000000">
                <a:alpha val="10000"/>
              </a:srgbClr>
            </a:outerShdw>
          </a:effectLst>
        </p:spPr>
      </p:sp>
      <p:sp>
        <p:nvSpPr>
          <p:cNvPr id="4" name="Text 2"/>
          <p:cNvSpPr/>
          <p:nvPr/>
        </p:nvSpPr>
        <p:spPr>
          <a:xfrm>
            <a:off x="411480" y="1188720"/>
            <a:ext cx="2697480" cy="621792"/>
          </a:xfrm>
          <a:prstGeom prst="rect">
            <a:avLst/>
          </a:prstGeom>
          <a:noFill/>
          <a:ln/>
        </p:spPr>
        <p:txBody>
          <a:bodyPr wrap="square"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~500</a:t>
            </a:r>
            <a:endParaRPr lang="en-US" sz="3400" dirty="0"/>
          </a:p>
        </p:txBody>
      </p:sp>
      <p:sp>
        <p:nvSpPr>
          <p:cNvPr id="5" name="Text 3"/>
          <p:cNvSpPr/>
          <p:nvPr/>
        </p:nvSpPr>
        <p:spPr>
          <a:xfrm>
            <a:off x="521208" y="1828800"/>
            <a:ext cx="2478024" cy="274320"/>
          </a:xfrm>
          <a:prstGeom prst="rect">
            <a:avLst/>
          </a:prstGeom>
          <a:noFill/>
          <a:ln/>
        </p:spPr>
        <p:txBody>
          <a:bodyPr wrap="square" lIns="0" tIns="0" rIns="0" bIns="0" rtlCol="0" anchor="ctr"/>
          <a:lstStyle/>
          <a:p>
            <a:pPr algn="ctr" indent="0" marL="0">
              <a:buNone/>
            </a:pPr>
            <a:r>
              <a:rPr lang="en-US" sz="1000" b="1" dirty="0">
                <a:solidFill>
                  <a:srgbClr val="0A1628"/>
                </a:solidFill>
                <a:latin typeface="Calibri" pitchFamily="34" charset="0"/>
                <a:ea typeface="Calibri" pitchFamily="34" charset="-122"/>
                <a:cs typeface="Calibri" pitchFamily="34" charset="-120"/>
              </a:rPr>
              <a:t>Claims flagged</a:t>
            </a:r>
            <a:endParaRPr lang="en-US" sz="1000" dirty="0"/>
          </a:p>
        </p:txBody>
      </p:sp>
      <p:sp>
        <p:nvSpPr>
          <p:cNvPr id="6" name="Text 4"/>
          <p:cNvSpPr/>
          <p:nvPr/>
        </p:nvSpPr>
        <p:spPr>
          <a:xfrm>
            <a:off x="521208" y="2103120"/>
            <a:ext cx="2478024" cy="548640"/>
          </a:xfrm>
          <a:prstGeom prst="rect">
            <a:avLst/>
          </a:prstGeom>
          <a:noFill/>
          <a:ln/>
        </p:spPr>
        <p:txBody>
          <a:bodyPr wrap="square" lIns="0" tIns="0" rIns="0" bIns="0" rtlCol="0" anchor="ctr"/>
          <a:lstStyle/>
          <a:p>
            <a:pPr algn="ctr" indent="0" marL="0">
              <a:lnSpc>
                <a:spcPct val="120000"/>
              </a:lnSpc>
              <a:buNone/>
            </a:pPr>
            <a:r>
              <a:rPr lang="en-US" sz="950" dirty="0">
                <a:solidFill>
                  <a:srgbClr val="64748B"/>
                </a:solidFill>
                <a:latin typeface="Calibri" pitchFamily="34" charset="0"/>
                <a:ea typeface="Calibri" pitchFamily="34" charset="-122"/>
                <a:cs typeface="Calibri" pitchFamily="34" charset="-120"/>
              </a:rPr>
              <a:t>~5% of all claims — consistent with realistic fraud prevalence estimates</a:t>
            </a:r>
            <a:endParaRPr lang="en-US" sz="950" dirty="0"/>
          </a:p>
        </p:txBody>
      </p:sp>
      <p:sp>
        <p:nvSpPr>
          <p:cNvPr id="7" name="Shape 5"/>
          <p:cNvSpPr/>
          <p:nvPr/>
        </p:nvSpPr>
        <p:spPr>
          <a:xfrm>
            <a:off x="3337560" y="1097280"/>
            <a:ext cx="2697480" cy="1645920"/>
          </a:xfrm>
          <a:prstGeom prst="roundRect">
            <a:avLst>
              <a:gd name="adj" fmla="val 6667"/>
            </a:avLst>
          </a:prstGeom>
          <a:solidFill>
            <a:srgbClr val="FFFFFF"/>
          </a:solidFill>
          <a:ln/>
          <a:effectLst>
            <a:outerShdw sx="100000" sy="100000" kx="0" ky="0" algn="bl" rotWithShape="0" blurRad="101600" dist="25400" dir="2700000">
              <a:srgbClr val="000000">
                <a:alpha val="10000"/>
              </a:srgbClr>
            </a:outerShdw>
          </a:effectLst>
        </p:spPr>
      </p:sp>
      <p:sp>
        <p:nvSpPr>
          <p:cNvPr id="8" name="Text 6"/>
          <p:cNvSpPr/>
          <p:nvPr/>
        </p:nvSpPr>
        <p:spPr>
          <a:xfrm>
            <a:off x="3337560" y="1188720"/>
            <a:ext cx="2697480" cy="621792"/>
          </a:xfrm>
          <a:prstGeom prst="rect">
            <a:avLst/>
          </a:prstGeom>
          <a:noFill/>
          <a:ln/>
        </p:spPr>
        <p:txBody>
          <a:bodyPr wrap="square"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Varies</a:t>
            </a:r>
            <a:endParaRPr lang="en-US" sz="3400" dirty="0"/>
          </a:p>
        </p:txBody>
      </p:sp>
      <p:sp>
        <p:nvSpPr>
          <p:cNvPr id="9" name="Text 7"/>
          <p:cNvSpPr/>
          <p:nvPr/>
        </p:nvSpPr>
        <p:spPr>
          <a:xfrm>
            <a:off x="3447288" y="1828800"/>
            <a:ext cx="2478024" cy="274320"/>
          </a:xfrm>
          <a:prstGeom prst="rect">
            <a:avLst/>
          </a:prstGeom>
          <a:noFill/>
          <a:ln/>
        </p:spPr>
        <p:txBody>
          <a:bodyPr wrap="square" lIns="0" tIns="0" rIns="0" bIns="0" rtlCol="0" anchor="ctr"/>
          <a:lstStyle/>
          <a:p>
            <a:pPr algn="ctr" indent="0" marL="0">
              <a:buNone/>
            </a:pPr>
            <a:r>
              <a:rPr lang="en-US" sz="1000" b="1" dirty="0">
                <a:solidFill>
                  <a:srgbClr val="0A1628"/>
                </a:solidFill>
                <a:latin typeface="Calibri" pitchFamily="34" charset="0"/>
                <a:ea typeface="Calibri" pitchFamily="34" charset="-122"/>
                <a:cs typeface="Calibri" pitchFamily="34" charset="-120"/>
              </a:rPr>
              <a:t>Anomaly rate per insurer</a:t>
            </a:r>
            <a:endParaRPr lang="en-US" sz="1000" dirty="0"/>
          </a:p>
        </p:txBody>
      </p:sp>
      <p:sp>
        <p:nvSpPr>
          <p:cNvPr id="10" name="Text 8"/>
          <p:cNvSpPr/>
          <p:nvPr/>
        </p:nvSpPr>
        <p:spPr>
          <a:xfrm>
            <a:off x="3447288" y="2103120"/>
            <a:ext cx="2478024" cy="548640"/>
          </a:xfrm>
          <a:prstGeom prst="rect">
            <a:avLst/>
          </a:prstGeom>
          <a:noFill/>
          <a:ln/>
        </p:spPr>
        <p:txBody>
          <a:bodyPr wrap="square" lIns="0" tIns="0" rIns="0" bIns="0" rtlCol="0" anchor="ctr"/>
          <a:lstStyle/>
          <a:p>
            <a:pPr algn="ctr" indent="0" marL="0">
              <a:lnSpc>
                <a:spcPct val="120000"/>
              </a:lnSpc>
              <a:buNone/>
            </a:pPr>
            <a:r>
              <a:rPr lang="en-US" sz="950" dirty="0">
                <a:solidFill>
                  <a:srgbClr val="64748B"/>
                </a:solidFill>
                <a:latin typeface="Calibri" pitchFamily="34" charset="0"/>
                <a:ea typeface="Calibri" pitchFamily="34" charset="-122"/>
                <a:cs typeface="Calibri" pitchFamily="34" charset="-120"/>
              </a:rPr>
              <a:t>Not uniform — some payer relationships carry significantly higher risk</a:t>
            </a:r>
            <a:endParaRPr lang="en-US" sz="950" dirty="0"/>
          </a:p>
        </p:txBody>
      </p:sp>
      <p:sp>
        <p:nvSpPr>
          <p:cNvPr id="11" name="Shape 9"/>
          <p:cNvSpPr/>
          <p:nvPr/>
        </p:nvSpPr>
        <p:spPr>
          <a:xfrm>
            <a:off x="6263640" y="1097280"/>
            <a:ext cx="2697480" cy="1645920"/>
          </a:xfrm>
          <a:prstGeom prst="roundRect">
            <a:avLst>
              <a:gd name="adj" fmla="val 6667"/>
            </a:avLst>
          </a:prstGeom>
          <a:solidFill>
            <a:srgbClr val="FFFFFF"/>
          </a:solidFill>
          <a:ln/>
          <a:effectLst>
            <a:outerShdw sx="100000" sy="100000" kx="0" ky="0" algn="bl" rotWithShape="0" blurRad="101600" dist="25400" dir="2700000">
              <a:srgbClr val="000000">
                <a:alpha val="10000"/>
              </a:srgbClr>
            </a:outerShdw>
          </a:effectLst>
        </p:spPr>
      </p:sp>
      <p:sp>
        <p:nvSpPr>
          <p:cNvPr id="12" name="Text 10"/>
          <p:cNvSpPr/>
          <p:nvPr/>
        </p:nvSpPr>
        <p:spPr>
          <a:xfrm>
            <a:off x="6263640" y="1188720"/>
            <a:ext cx="2697480" cy="621792"/>
          </a:xfrm>
          <a:prstGeom prst="rect">
            <a:avLst/>
          </a:prstGeom>
          <a:noFill/>
          <a:ln/>
        </p:spPr>
        <p:txBody>
          <a:bodyPr wrap="square"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SHAP</a:t>
            </a:r>
            <a:endParaRPr lang="en-US" sz="3400" dirty="0"/>
          </a:p>
        </p:txBody>
      </p:sp>
      <p:sp>
        <p:nvSpPr>
          <p:cNvPr id="13" name="Text 11"/>
          <p:cNvSpPr/>
          <p:nvPr/>
        </p:nvSpPr>
        <p:spPr>
          <a:xfrm>
            <a:off x="6373368" y="1828800"/>
            <a:ext cx="2478024" cy="274320"/>
          </a:xfrm>
          <a:prstGeom prst="rect">
            <a:avLst/>
          </a:prstGeom>
          <a:noFill/>
          <a:ln/>
        </p:spPr>
        <p:txBody>
          <a:bodyPr wrap="square" lIns="0" tIns="0" rIns="0" bIns="0" rtlCol="0" anchor="ctr"/>
          <a:lstStyle/>
          <a:p>
            <a:pPr algn="ctr" indent="0" marL="0">
              <a:buNone/>
            </a:pPr>
            <a:r>
              <a:rPr lang="en-US" sz="1000" b="1" dirty="0">
                <a:solidFill>
                  <a:srgbClr val="0A1628"/>
                </a:solidFill>
                <a:latin typeface="Calibri" pitchFamily="34" charset="0"/>
                <a:ea typeface="Calibri" pitchFamily="34" charset="-122"/>
                <a:cs typeface="Calibri" pitchFamily="34" charset="-120"/>
              </a:rPr>
              <a:t>Billing z-score #1 driver</a:t>
            </a:r>
            <a:endParaRPr lang="en-US" sz="1000" dirty="0"/>
          </a:p>
        </p:txBody>
      </p:sp>
      <p:sp>
        <p:nvSpPr>
          <p:cNvPr id="14" name="Text 12"/>
          <p:cNvSpPr/>
          <p:nvPr/>
        </p:nvSpPr>
        <p:spPr>
          <a:xfrm>
            <a:off x="6373368" y="2103120"/>
            <a:ext cx="2478024" cy="548640"/>
          </a:xfrm>
          <a:prstGeom prst="rect">
            <a:avLst/>
          </a:prstGeom>
          <a:noFill/>
          <a:ln/>
        </p:spPr>
        <p:txBody>
          <a:bodyPr wrap="square" lIns="0" tIns="0" rIns="0" bIns="0" rtlCol="0" anchor="ctr"/>
          <a:lstStyle/>
          <a:p>
            <a:pPr algn="ctr" indent="0" marL="0">
              <a:lnSpc>
                <a:spcPct val="120000"/>
              </a:lnSpc>
              <a:buNone/>
            </a:pPr>
            <a:r>
              <a:rPr lang="en-US" sz="950" dirty="0">
                <a:solidFill>
                  <a:srgbClr val="64748B"/>
                </a:solidFill>
                <a:latin typeface="Calibri" pitchFamily="34" charset="0"/>
                <a:ea typeface="Calibri" pitchFamily="34" charset="-122"/>
                <a:cs typeface="Calibri" pitchFamily="34" charset="-120"/>
              </a:rPr>
              <a:t>Contextual deviation beats raw dollar amount as the top anomaly signal</a:t>
            </a:r>
            <a:endParaRPr lang="en-US" sz="950" dirty="0"/>
          </a:p>
        </p:txBody>
      </p:sp>
      <p:graphicFrame>
        <p:nvGraphicFramePr>
          <p:cNvPr id="15" name="Chart 0" descr=""/>
          <p:cNvGraphicFramePr/>
          <p:nvPr/>
        </p:nvGraphicFramePr>
        <p:xfrm>
          <a:off x="457200" y="2880360"/>
          <a:ext cx="5486400" cy="205740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6126480" y="2880360"/>
            <a:ext cx="2606040" cy="2057400"/>
          </a:xfrm>
          <a:prstGeom prst="roundRect">
            <a:avLst>
              <a:gd name="adj" fmla="val 5333"/>
            </a:avLst>
          </a:prstGeom>
          <a:solidFill>
            <a:srgbClr val="065A82"/>
          </a:solidFill>
          <a:ln/>
        </p:spPr>
      </p:sp>
      <p:sp>
        <p:nvSpPr>
          <p:cNvPr id="17" name="Text 14"/>
          <p:cNvSpPr/>
          <p:nvPr/>
        </p:nvSpPr>
        <p:spPr>
          <a:xfrm>
            <a:off x="6263640" y="3017520"/>
            <a:ext cx="2331720" cy="320040"/>
          </a:xfrm>
          <a:prstGeom prst="rect">
            <a:avLst/>
          </a:prstGeom>
          <a:noFill/>
          <a:ln/>
        </p:spPr>
        <p:txBody>
          <a:bodyPr wrap="square" lIns="0" tIns="0" rIns="0" bIns="0" rtlCol="0" anchor="ctr"/>
          <a:lstStyle/>
          <a:p>
            <a:pPr indent="0" marL="0">
              <a:buNone/>
            </a:pPr>
            <a:r>
              <a:rPr lang="en-US" sz="1100" b="1" dirty="0">
                <a:solidFill>
                  <a:srgbClr val="02C39A"/>
                </a:solidFill>
                <a:latin typeface="Calibri" pitchFamily="34" charset="0"/>
                <a:ea typeface="Calibri" pitchFamily="34" charset="-122"/>
                <a:cs typeface="Calibri" pitchFamily="34" charset="-120"/>
              </a:rPr>
              <a:t>Financial Impact</a:t>
            </a:r>
            <a:endParaRPr lang="en-US" sz="1100" dirty="0"/>
          </a:p>
        </p:txBody>
      </p:sp>
      <p:sp>
        <p:nvSpPr>
          <p:cNvPr id="18" name="Text 15"/>
          <p:cNvSpPr/>
          <p:nvPr/>
        </p:nvSpPr>
        <p:spPr>
          <a:xfrm>
            <a:off x="6263640" y="3401568"/>
            <a:ext cx="2331720" cy="1417320"/>
          </a:xfrm>
          <a:prstGeom prst="rect">
            <a:avLst/>
          </a:prstGeom>
          <a:noFill/>
          <a:ln/>
        </p:spPr>
        <p:txBody>
          <a:bodyPr wrap="square" lIns="0" tIns="0" rIns="0" bIns="0" rtlCol="0" anchor="ctr"/>
          <a:lstStyle/>
          <a:p>
            <a:pPr indent="0" marL="0">
              <a:lnSpc>
                <a:spcPct val="130000"/>
              </a:lnSpc>
              <a:buNone/>
            </a:pPr>
            <a:r>
              <a:rPr lang="en-US" sz="1000" dirty="0">
                <a:solidFill>
                  <a:srgbClr val="CADCFC"/>
                </a:solidFill>
                <a:latin typeface="Calibri" pitchFamily="34" charset="0"/>
                <a:ea typeface="Calibri" pitchFamily="34" charset="-122"/>
                <a:cs typeface="Calibri" pitchFamily="34" charset="-120"/>
              </a:rPr>
              <a:t>Each flagged claim is compared against its expected billing amount.</a:t>
            </a:r>
            <a:endParaRPr lang="en-US" sz="1000" dirty="0"/>
          </a:p>
          <a:p>
            <a:pPr indent="0" marL="0">
              <a:lnSpc>
                <a:spcPct val="130000"/>
              </a:lnSpc>
              <a:buNone/>
            </a:pPr>
            <a:endParaRPr lang="en-US" sz="1000" dirty="0"/>
          </a:p>
          <a:p>
            <a:pPr indent="0" marL="0">
              <a:lnSpc>
                <a:spcPct val="130000"/>
              </a:lnSpc>
              <a:buNone/>
            </a:pPr>
            <a:r>
              <a:rPr lang="en-US" sz="1000" dirty="0">
                <a:solidFill>
                  <a:srgbClr val="CADCFC"/>
                </a:solidFill>
                <a:latin typeface="Calibri" pitchFamily="34" charset="0"/>
                <a:ea typeface="Calibri" pitchFamily="34" charset="-122"/>
                <a:cs typeface="Calibri" pitchFamily="34" charset="-120"/>
              </a:rPr>
              <a:t>The difference = estimated overpayment.</a:t>
            </a:r>
            <a:endParaRPr lang="en-US" sz="1000" dirty="0"/>
          </a:p>
          <a:p>
            <a:pPr indent="0" marL="0">
              <a:lnSpc>
                <a:spcPct val="130000"/>
              </a:lnSpc>
              <a:buNone/>
            </a:pPr>
            <a:endParaRPr lang="en-US" sz="1000" dirty="0"/>
          </a:p>
          <a:p>
            <a:pPr indent="0" marL="0">
              <a:lnSpc>
                <a:spcPct val="130000"/>
              </a:lnSpc>
              <a:buNone/>
            </a:pPr>
            <a:r>
              <a:rPr lang="en-US" sz="1000" dirty="0">
                <a:solidFill>
                  <a:srgbClr val="CADCFC"/>
                </a:solidFill>
                <a:latin typeface="Calibri" pitchFamily="34" charset="0"/>
                <a:ea typeface="Calibri" pitchFamily="34" charset="-122"/>
                <a:cs typeface="Calibri" pitchFamily="34" charset="-120"/>
              </a:rPr>
              <a:t>Even recovering 20% of flagged overpayments at scale represents significant ROI.</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3400" b="1" dirty="0">
                <a:solidFill>
                  <a:srgbClr val="0A1628"/>
                </a:solidFill>
                <a:latin typeface="Cambria" pitchFamily="34" charset="0"/>
                <a:ea typeface="Cambria" pitchFamily="34" charset="-122"/>
                <a:cs typeface="Cambria" pitchFamily="34" charset="-120"/>
              </a:rPr>
              <a:t>Opportunities &amp; Threats</a:t>
            </a:r>
            <a:endParaRPr lang="en-US" sz="3400" dirty="0"/>
          </a:p>
        </p:txBody>
      </p:sp>
      <p:sp>
        <p:nvSpPr>
          <p:cNvPr id="3" name="Text 1"/>
          <p:cNvSpPr/>
          <p:nvPr/>
        </p:nvSpPr>
        <p:spPr>
          <a:xfrm>
            <a:off x="457200" y="1005840"/>
            <a:ext cx="4114800" cy="347472"/>
          </a:xfrm>
          <a:prstGeom prst="rect">
            <a:avLst/>
          </a:prstGeom>
          <a:noFill/>
          <a:ln/>
        </p:spPr>
        <p:txBody>
          <a:bodyPr wrap="square"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Opportunities</a:t>
            </a:r>
            <a:endParaRPr lang="en-US" sz="1400" dirty="0"/>
          </a:p>
        </p:txBody>
      </p:sp>
      <p:sp>
        <p:nvSpPr>
          <p:cNvPr id="4" name="Shape 2"/>
          <p:cNvSpPr/>
          <p:nvPr/>
        </p:nvSpPr>
        <p:spPr>
          <a:xfrm>
            <a:off x="457200" y="1444752"/>
            <a:ext cx="4160520" cy="749808"/>
          </a:xfrm>
          <a:prstGeom prst="roundRect">
            <a:avLst>
              <a:gd name="adj" fmla="val 12195"/>
            </a:avLst>
          </a:prstGeom>
          <a:solidFill>
            <a:srgbClr val="F0FBF7"/>
          </a:solidFill>
          <a:ln w="6350">
            <a:solidFill>
              <a:srgbClr val="9FE1CB"/>
            </a:solidFill>
            <a:prstDash val="solid"/>
          </a:ln>
        </p:spPr>
      </p:sp>
      <p:sp>
        <p:nvSpPr>
          <p:cNvPr id="5" name="Shape 3"/>
          <p:cNvSpPr/>
          <p:nvPr/>
        </p:nvSpPr>
        <p:spPr>
          <a:xfrm>
            <a:off x="594360" y="1591056"/>
            <a:ext cx="201168" cy="201168"/>
          </a:xfrm>
          <a:prstGeom prst="ellipse">
            <a:avLst/>
          </a:prstGeom>
          <a:solidFill>
            <a:srgbClr val="02C39A"/>
          </a:solidFill>
          <a:ln w="12700">
            <a:solidFill>
              <a:srgbClr val="02C39A"/>
            </a:solidFill>
            <a:prstDash val="solid"/>
          </a:ln>
        </p:spPr>
      </p:sp>
      <p:sp>
        <p:nvSpPr>
          <p:cNvPr id="6" name="Text 4"/>
          <p:cNvSpPr/>
          <p:nvPr/>
        </p:nvSpPr>
        <p:spPr>
          <a:xfrm>
            <a:off x="914400" y="1481328"/>
            <a:ext cx="3566160" cy="676656"/>
          </a:xfrm>
          <a:prstGeom prst="rect">
            <a:avLst/>
          </a:prstGeom>
          <a:noFill/>
          <a:ln/>
        </p:spPr>
        <p:txBody>
          <a:bodyPr wrap="square" lIns="0" tIns="0" rIns="0" bIns="0" rtlCol="0" anchor="ctr"/>
          <a:lstStyle/>
          <a:p>
            <a:pPr indent="0" marL="0">
              <a:lnSpc>
                <a:spcPct val="125000"/>
              </a:lnSpc>
              <a:buNone/>
            </a:pPr>
            <a:r>
              <a:rPr lang="en-US" sz="1050" dirty="0">
                <a:solidFill>
                  <a:srgbClr val="0A1628"/>
                </a:solidFill>
                <a:latin typeface="Calibri" pitchFamily="34" charset="0"/>
                <a:ea typeface="Calibri" pitchFamily="34" charset="-122"/>
                <a:cs typeface="Calibri" pitchFamily="34" charset="-120"/>
              </a:rPr>
              <a:t>Prepayment screening is far more cost-effective than post-payment recovery</a:t>
            </a:r>
            <a:endParaRPr lang="en-US" sz="1050" dirty="0"/>
          </a:p>
        </p:txBody>
      </p:sp>
      <p:sp>
        <p:nvSpPr>
          <p:cNvPr id="7" name="Shape 5"/>
          <p:cNvSpPr/>
          <p:nvPr/>
        </p:nvSpPr>
        <p:spPr>
          <a:xfrm>
            <a:off x="457200" y="2340864"/>
            <a:ext cx="4160520" cy="749808"/>
          </a:xfrm>
          <a:prstGeom prst="roundRect">
            <a:avLst>
              <a:gd name="adj" fmla="val 12195"/>
            </a:avLst>
          </a:prstGeom>
          <a:solidFill>
            <a:srgbClr val="F0FBF7"/>
          </a:solidFill>
          <a:ln w="6350">
            <a:solidFill>
              <a:srgbClr val="9FE1CB"/>
            </a:solidFill>
            <a:prstDash val="solid"/>
          </a:ln>
        </p:spPr>
      </p:sp>
      <p:sp>
        <p:nvSpPr>
          <p:cNvPr id="8" name="Shape 6"/>
          <p:cNvSpPr/>
          <p:nvPr/>
        </p:nvSpPr>
        <p:spPr>
          <a:xfrm>
            <a:off x="594360" y="2487168"/>
            <a:ext cx="201168" cy="201168"/>
          </a:xfrm>
          <a:prstGeom prst="ellipse">
            <a:avLst/>
          </a:prstGeom>
          <a:solidFill>
            <a:srgbClr val="02C39A"/>
          </a:solidFill>
          <a:ln w="12700">
            <a:solidFill>
              <a:srgbClr val="02C39A"/>
            </a:solidFill>
            <a:prstDash val="solid"/>
          </a:ln>
        </p:spPr>
      </p:sp>
      <p:sp>
        <p:nvSpPr>
          <p:cNvPr id="9" name="Text 7"/>
          <p:cNvSpPr/>
          <p:nvPr/>
        </p:nvSpPr>
        <p:spPr>
          <a:xfrm>
            <a:off x="914400" y="2377440"/>
            <a:ext cx="3566160" cy="676656"/>
          </a:xfrm>
          <a:prstGeom prst="rect">
            <a:avLst/>
          </a:prstGeom>
          <a:noFill/>
          <a:ln/>
        </p:spPr>
        <p:txBody>
          <a:bodyPr wrap="square" lIns="0" tIns="0" rIns="0" bIns="0" rtlCol="0" anchor="ctr"/>
          <a:lstStyle/>
          <a:p>
            <a:pPr indent="0" marL="0">
              <a:lnSpc>
                <a:spcPct val="125000"/>
              </a:lnSpc>
              <a:buNone/>
            </a:pPr>
            <a:r>
              <a:rPr lang="en-US" sz="1050" dirty="0">
                <a:solidFill>
                  <a:srgbClr val="0A1628"/>
                </a:solidFill>
                <a:latin typeface="Calibri" pitchFamily="34" charset="0"/>
                <a:ea typeface="Calibri" pitchFamily="34" charset="-122"/>
                <a:cs typeface="Calibri" pitchFamily="34" charset="-120"/>
              </a:rPr>
              <a:t>Insurer-level risk stratification enables targeted — not blanket — audit resources</a:t>
            </a:r>
            <a:endParaRPr lang="en-US" sz="1050" dirty="0"/>
          </a:p>
        </p:txBody>
      </p:sp>
      <p:sp>
        <p:nvSpPr>
          <p:cNvPr id="10" name="Shape 8"/>
          <p:cNvSpPr/>
          <p:nvPr/>
        </p:nvSpPr>
        <p:spPr>
          <a:xfrm>
            <a:off x="457200" y="3236976"/>
            <a:ext cx="4160520" cy="749808"/>
          </a:xfrm>
          <a:prstGeom prst="roundRect">
            <a:avLst>
              <a:gd name="adj" fmla="val 12195"/>
            </a:avLst>
          </a:prstGeom>
          <a:solidFill>
            <a:srgbClr val="F0FBF7"/>
          </a:solidFill>
          <a:ln w="6350">
            <a:solidFill>
              <a:srgbClr val="9FE1CB"/>
            </a:solidFill>
            <a:prstDash val="solid"/>
          </a:ln>
        </p:spPr>
      </p:sp>
      <p:sp>
        <p:nvSpPr>
          <p:cNvPr id="11" name="Shape 9"/>
          <p:cNvSpPr/>
          <p:nvPr/>
        </p:nvSpPr>
        <p:spPr>
          <a:xfrm>
            <a:off x="594360" y="3383280"/>
            <a:ext cx="201168" cy="201168"/>
          </a:xfrm>
          <a:prstGeom prst="ellipse">
            <a:avLst/>
          </a:prstGeom>
          <a:solidFill>
            <a:srgbClr val="02C39A"/>
          </a:solidFill>
          <a:ln w="12700">
            <a:solidFill>
              <a:srgbClr val="02C39A"/>
            </a:solidFill>
            <a:prstDash val="solid"/>
          </a:ln>
        </p:spPr>
      </p:sp>
      <p:sp>
        <p:nvSpPr>
          <p:cNvPr id="12" name="Text 10"/>
          <p:cNvSpPr/>
          <p:nvPr/>
        </p:nvSpPr>
        <p:spPr>
          <a:xfrm>
            <a:off x="914400" y="3273552"/>
            <a:ext cx="3566160" cy="676656"/>
          </a:xfrm>
          <a:prstGeom prst="rect">
            <a:avLst/>
          </a:prstGeom>
          <a:noFill/>
          <a:ln/>
        </p:spPr>
        <p:txBody>
          <a:bodyPr wrap="square" lIns="0" tIns="0" rIns="0" bIns="0" rtlCol="0" anchor="ctr"/>
          <a:lstStyle/>
          <a:p>
            <a:pPr indent="0" marL="0">
              <a:lnSpc>
                <a:spcPct val="125000"/>
              </a:lnSpc>
              <a:buNone/>
            </a:pPr>
            <a:r>
              <a:rPr lang="en-US" sz="1050" dirty="0">
                <a:solidFill>
                  <a:srgbClr val="0A1628"/>
                </a:solidFill>
                <a:latin typeface="Calibri" pitchFamily="34" charset="0"/>
                <a:ea typeface="Calibri" pitchFamily="34" charset="-122"/>
                <a:cs typeface="Calibri" pitchFamily="34" charset="-120"/>
              </a:rPr>
              <a:t>SHAP explanations turn flags into actionable, compliance-ready findings</a:t>
            </a:r>
            <a:endParaRPr lang="en-US" sz="1050" dirty="0"/>
          </a:p>
        </p:txBody>
      </p:sp>
      <p:sp>
        <p:nvSpPr>
          <p:cNvPr id="13" name="Shape 11"/>
          <p:cNvSpPr/>
          <p:nvPr/>
        </p:nvSpPr>
        <p:spPr>
          <a:xfrm>
            <a:off x="457200" y="4133088"/>
            <a:ext cx="4160520" cy="749808"/>
          </a:xfrm>
          <a:prstGeom prst="roundRect">
            <a:avLst>
              <a:gd name="adj" fmla="val 12195"/>
            </a:avLst>
          </a:prstGeom>
          <a:solidFill>
            <a:srgbClr val="F0FBF7"/>
          </a:solidFill>
          <a:ln w="6350">
            <a:solidFill>
              <a:srgbClr val="9FE1CB"/>
            </a:solidFill>
            <a:prstDash val="solid"/>
          </a:ln>
        </p:spPr>
      </p:sp>
      <p:sp>
        <p:nvSpPr>
          <p:cNvPr id="14" name="Shape 12"/>
          <p:cNvSpPr/>
          <p:nvPr/>
        </p:nvSpPr>
        <p:spPr>
          <a:xfrm>
            <a:off x="594360" y="4279392"/>
            <a:ext cx="201168" cy="201168"/>
          </a:xfrm>
          <a:prstGeom prst="ellipse">
            <a:avLst/>
          </a:prstGeom>
          <a:solidFill>
            <a:srgbClr val="02C39A"/>
          </a:solidFill>
          <a:ln w="12700">
            <a:solidFill>
              <a:srgbClr val="02C39A"/>
            </a:solidFill>
            <a:prstDash val="solid"/>
          </a:ln>
        </p:spPr>
      </p:sp>
      <p:sp>
        <p:nvSpPr>
          <p:cNvPr id="15" name="Text 13"/>
          <p:cNvSpPr/>
          <p:nvPr/>
        </p:nvSpPr>
        <p:spPr>
          <a:xfrm>
            <a:off x="914400" y="4169664"/>
            <a:ext cx="3566160" cy="676656"/>
          </a:xfrm>
          <a:prstGeom prst="rect">
            <a:avLst/>
          </a:prstGeom>
          <a:noFill/>
          <a:ln/>
        </p:spPr>
        <p:txBody>
          <a:bodyPr wrap="square" lIns="0" tIns="0" rIns="0" bIns="0" rtlCol="0" anchor="ctr"/>
          <a:lstStyle/>
          <a:p>
            <a:pPr indent="0" marL="0">
              <a:lnSpc>
                <a:spcPct val="125000"/>
              </a:lnSpc>
              <a:buNone/>
            </a:pPr>
            <a:r>
              <a:rPr lang="en-US" sz="1050" dirty="0">
                <a:solidFill>
                  <a:srgbClr val="0A1628"/>
                </a:solidFill>
                <a:latin typeface="Calibri" pitchFamily="34" charset="0"/>
                <a:ea typeface="Calibri" pitchFamily="34" charset="-122"/>
                <a:cs typeface="Calibri" pitchFamily="34" charset="-120"/>
              </a:rPr>
              <a:t>Same architecture extends to Treatment (LOS drift) and Operations (volume spikes)</a:t>
            </a:r>
            <a:endParaRPr lang="en-US" sz="1050" dirty="0"/>
          </a:p>
        </p:txBody>
      </p:sp>
      <p:sp>
        <p:nvSpPr>
          <p:cNvPr id="16" name="Text 14"/>
          <p:cNvSpPr/>
          <p:nvPr/>
        </p:nvSpPr>
        <p:spPr>
          <a:xfrm>
            <a:off x="4846320" y="1005840"/>
            <a:ext cx="3840480" cy="347472"/>
          </a:xfrm>
          <a:prstGeom prst="rect">
            <a:avLst/>
          </a:prstGeom>
          <a:noFill/>
          <a:ln/>
        </p:spPr>
        <p:txBody>
          <a:bodyPr wrap="square" rtlCol="0" anchor="ctr"/>
          <a:lstStyle/>
          <a:p>
            <a:pPr indent="0" marL="0">
              <a:buNone/>
            </a:pPr>
            <a:r>
              <a:rPr lang="en-US" sz="1400" b="1" dirty="0">
                <a:solidFill>
                  <a:srgbClr val="E34948"/>
                </a:solidFill>
                <a:latin typeface="Calibri" pitchFamily="34" charset="0"/>
                <a:ea typeface="Calibri" pitchFamily="34" charset="-122"/>
                <a:cs typeface="Calibri" pitchFamily="34" charset="-120"/>
              </a:rPr>
              <a:t>Threats</a:t>
            </a:r>
            <a:endParaRPr lang="en-US" sz="1400" dirty="0"/>
          </a:p>
        </p:txBody>
      </p:sp>
      <p:sp>
        <p:nvSpPr>
          <p:cNvPr id="17" name="Shape 15"/>
          <p:cNvSpPr/>
          <p:nvPr/>
        </p:nvSpPr>
        <p:spPr>
          <a:xfrm>
            <a:off x="4846320" y="1444752"/>
            <a:ext cx="3886200" cy="749808"/>
          </a:xfrm>
          <a:prstGeom prst="roundRect">
            <a:avLst>
              <a:gd name="adj" fmla="val 12195"/>
            </a:avLst>
          </a:prstGeom>
          <a:solidFill>
            <a:srgbClr val="FEF2F2"/>
          </a:solidFill>
          <a:ln w="6350">
            <a:solidFill>
              <a:srgbClr val="F09595"/>
            </a:solidFill>
            <a:prstDash val="solid"/>
          </a:ln>
        </p:spPr>
      </p:sp>
      <p:sp>
        <p:nvSpPr>
          <p:cNvPr id="18" name="Shape 16"/>
          <p:cNvSpPr/>
          <p:nvPr/>
        </p:nvSpPr>
        <p:spPr>
          <a:xfrm>
            <a:off x="4974336" y="1591056"/>
            <a:ext cx="201168" cy="201168"/>
          </a:xfrm>
          <a:prstGeom prst="ellipse">
            <a:avLst/>
          </a:prstGeom>
          <a:solidFill>
            <a:srgbClr val="E34948"/>
          </a:solidFill>
          <a:ln w="12700">
            <a:solidFill>
              <a:srgbClr val="E34948"/>
            </a:solidFill>
            <a:prstDash val="solid"/>
          </a:ln>
        </p:spPr>
      </p:sp>
      <p:sp>
        <p:nvSpPr>
          <p:cNvPr id="19" name="Text 17"/>
          <p:cNvSpPr/>
          <p:nvPr/>
        </p:nvSpPr>
        <p:spPr>
          <a:xfrm>
            <a:off x="5285232" y="1481328"/>
            <a:ext cx="3337560" cy="676656"/>
          </a:xfrm>
          <a:prstGeom prst="rect">
            <a:avLst/>
          </a:prstGeom>
          <a:noFill/>
          <a:ln/>
        </p:spPr>
        <p:txBody>
          <a:bodyPr wrap="square" lIns="0" tIns="0" rIns="0" bIns="0" rtlCol="0" anchor="ctr"/>
          <a:lstStyle/>
          <a:p>
            <a:pPr indent="0" marL="0">
              <a:lnSpc>
                <a:spcPct val="125000"/>
              </a:lnSpc>
              <a:buNone/>
            </a:pPr>
            <a:r>
              <a:rPr lang="en-US" sz="1050" dirty="0">
                <a:solidFill>
                  <a:srgbClr val="0A1628"/>
                </a:solidFill>
                <a:latin typeface="Calibri" pitchFamily="34" charset="0"/>
                <a:ea typeface="Calibri" pitchFamily="34" charset="-122"/>
                <a:cs typeface="Calibri" pitchFamily="34" charset="-120"/>
              </a:rPr>
              <a:t>Fraud patterns evolve — static models degrade without continuous retraining</a:t>
            </a:r>
            <a:endParaRPr lang="en-US" sz="1050" dirty="0"/>
          </a:p>
        </p:txBody>
      </p:sp>
      <p:sp>
        <p:nvSpPr>
          <p:cNvPr id="20" name="Shape 18"/>
          <p:cNvSpPr/>
          <p:nvPr/>
        </p:nvSpPr>
        <p:spPr>
          <a:xfrm>
            <a:off x="4846320" y="2340864"/>
            <a:ext cx="3886200" cy="749808"/>
          </a:xfrm>
          <a:prstGeom prst="roundRect">
            <a:avLst>
              <a:gd name="adj" fmla="val 12195"/>
            </a:avLst>
          </a:prstGeom>
          <a:solidFill>
            <a:srgbClr val="FEF2F2"/>
          </a:solidFill>
          <a:ln w="6350">
            <a:solidFill>
              <a:srgbClr val="F09595"/>
            </a:solidFill>
            <a:prstDash val="solid"/>
          </a:ln>
        </p:spPr>
      </p:sp>
      <p:sp>
        <p:nvSpPr>
          <p:cNvPr id="21" name="Shape 19"/>
          <p:cNvSpPr/>
          <p:nvPr/>
        </p:nvSpPr>
        <p:spPr>
          <a:xfrm>
            <a:off x="4974336" y="2487168"/>
            <a:ext cx="201168" cy="201168"/>
          </a:xfrm>
          <a:prstGeom prst="ellipse">
            <a:avLst/>
          </a:prstGeom>
          <a:solidFill>
            <a:srgbClr val="E34948"/>
          </a:solidFill>
          <a:ln w="12700">
            <a:solidFill>
              <a:srgbClr val="E34948"/>
            </a:solidFill>
            <a:prstDash val="solid"/>
          </a:ln>
        </p:spPr>
      </p:sp>
      <p:sp>
        <p:nvSpPr>
          <p:cNvPr id="22" name="Text 20"/>
          <p:cNvSpPr/>
          <p:nvPr/>
        </p:nvSpPr>
        <p:spPr>
          <a:xfrm>
            <a:off x="5285232" y="2377440"/>
            <a:ext cx="3337560" cy="676656"/>
          </a:xfrm>
          <a:prstGeom prst="rect">
            <a:avLst/>
          </a:prstGeom>
          <a:noFill/>
          <a:ln/>
        </p:spPr>
        <p:txBody>
          <a:bodyPr wrap="square" lIns="0" tIns="0" rIns="0" bIns="0" rtlCol="0" anchor="ctr"/>
          <a:lstStyle/>
          <a:p>
            <a:pPr indent="0" marL="0">
              <a:lnSpc>
                <a:spcPct val="125000"/>
              </a:lnSpc>
              <a:buNone/>
            </a:pPr>
            <a:r>
              <a:rPr lang="en-US" sz="1050" dirty="0">
                <a:solidFill>
                  <a:srgbClr val="0A1628"/>
                </a:solidFill>
                <a:latin typeface="Calibri" pitchFamily="34" charset="0"/>
                <a:ea typeface="Calibri" pitchFamily="34" charset="-122"/>
                <a:cs typeface="Calibri" pitchFamily="34" charset="-120"/>
              </a:rPr>
              <a:t>False positives damage provider relationships; precision-recall balance is critical</a:t>
            </a:r>
            <a:endParaRPr lang="en-US" sz="1050" dirty="0"/>
          </a:p>
        </p:txBody>
      </p:sp>
      <p:sp>
        <p:nvSpPr>
          <p:cNvPr id="23" name="Shape 21"/>
          <p:cNvSpPr/>
          <p:nvPr/>
        </p:nvSpPr>
        <p:spPr>
          <a:xfrm>
            <a:off x="4846320" y="3236976"/>
            <a:ext cx="3886200" cy="749808"/>
          </a:xfrm>
          <a:prstGeom prst="roundRect">
            <a:avLst>
              <a:gd name="adj" fmla="val 12195"/>
            </a:avLst>
          </a:prstGeom>
          <a:solidFill>
            <a:srgbClr val="FEF2F2"/>
          </a:solidFill>
          <a:ln w="6350">
            <a:solidFill>
              <a:srgbClr val="F09595"/>
            </a:solidFill>
            <a:prstDash val="solid"/>
          </a:ln>
        </p:spPr>
      </p:sp>
      <p:sp>
        <p:nvSpPr>
          <p:cNvPr id="24" name="Shape 22"/>
          <p:cNvSpPr/>
          <p:nvPr/>
        </p:nvSpPr>
        <p:spPr>
          <a:xfrm>
            <a:off x="4974336" y="3383280"/>
            <a:ext cx="201168" cy="201168"/>
          </a:xfrm>
          <a:prstGeom prst="ellipse">
            <a:avLst/>
          </a:prstGeom>
          <a:solidFill>
            <a:srgbClr val="E34948"/>
          </a:solidFill>
          <a:ln w="12700">
            <a:solidFill>
              <a:srgbClr val="E34948"/>
            </a:solidFill>
            <a:prstDash val="solid"/>
          </a:ln>
        </p:spPr>
      </p:sp>
      <p:sp>
        <p:nvSpPr>
          <p:cNvPr id="25" name="Text 23"/>
          <p:cNvSpPr/>
          <p:nvPr/>
        </p:nvSpPr>
        <p:spPr>
          <a:xfrm>
            <a:off x="5285232" y="3273552"/>
            <a:ext cx="3337560" cy="676656"/>
          </a:xfrm>
          <a:prstGeom prst="rect">
            <a:avLst/>
          </a:prstGeom>
          <a:noFill/>
          <a:ln/>
        </p:spPr>
        <p:txBody>
          <a:bodyPr wrap="square" lIns="0" tIns="0" rIns="0" bIns="0" rtlCol="0" anchor="ctr"/>
          <a:lstStyle/>
          <a:p>
            <a:pPr indent="0" marL="0">
              <a:lnSpc>
                <a:spcPct val="125000"/>
              </a:lnSpc>
              <a:buNone/>
            </a:pPr>
            <a:r>
              <a:rPr lang="en-US" sz="1050" dirty="0">
                <a:solidFill>
                  <a:srgbClr val="0A1628"/>
                </a:solidFill>
                <a:latin typeface="Calibri" pitchFamily="34" charset="0"/>
                <a:ea typeface="Calibri" pitchFamily="34" charset="-122"/>
                <a:cs typeface="Calibri" pitchFamily="34" charset="-120"/>
              </a:rPr>
              <a:t>CMS algorithmic transparency requirements are evolving and vary by state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3400" b="1" dirty="0">
                <a:solidFill>
                  <a:srgbClr val="0A1628"/>
                </a:solidFill>
                <a:latin typeface="Cambria" pitchFamily="34" charset="0"/>
                <a:ea typeface="Cambria" pitchFamily="34" charset="-122"/>
                <a:cs typeface="Cambria" pitchFamily="34" charset="-120"/>
              </a:rPr>
              <a:t>Three Recommendations for Cotiviti</a:t>
            </a:r>
            <a:endParaRPr lang="en-US" sz="3400" dirty="0"/>
          </a:p>
        </p:txBody>
      </p:sp>
      <p:sp>
        <p:nvSpPr>
          <p:cNvPr id="3" name="Shape 1"/>
          <p:cNvSpPr/>
          <p:nvPr/>
        </p:nvSpPr>
        <p:spPr>
          <a:xfrm>
            <a:off x="457200" y="1143000"/>
            <a:ext cx="8275320" cy="1161288"/>
          </a:xfrm>
          <a:prstGeom prst="roundRect">
            <a:avLst>
              <a:gd name="adj" fmla="val 9449"/>
            </a:avLst>
          </a:prstGeom>
          <a:solidFill>
            <a:srgbClr val="FFFFFF"/>
          </a:solidFill>
          <a:ln/>
          <a:effectLst>
            <a:outerShdw sx="100000" sy="100000" kx="0" ky="0" algn="bl" rotWithShape="0" blurRad="101600" dist="25400" dir="2700000">
              <a:srgbClr val="000000">
                <a:alpha val="10000"/>
              </a:srgbClr>
            </a:outerShdw>
          </a:effectLst>
        </p:spPr>
      </p:sp>
      <p:sp>
        <p:nvSpPr>
          <p:cNvPr id="4" name="Shape 2"/>
          <p:cNvSpPr/>
          <p:nvPr/>
        </p:nvSpPr>
        <p:spPr>
          <a:xfrm>
            <a:off x="621792" y="1399032"/>
            <a:ext cx="640080" cy="640080"/>
          </a:xfrm>
          <a:prstGeom prst="ellipse">
            <a:avLst/>
          </a:prstGeom>
          <a:solidFill>
            <a:srgbClr val="065A82"/>
          </a:solidFill>
          <a:ln w="12700">
            <a:solidFill>
              <a:srgbClr val="065A82"/>
            </a:solidFill>
            <a:prstDash val="solid"/>
          </a:ln>
        </p:spPr>
      </p:sp>
      <p:sp>
        <p:nvSpPr>
          <p:cNvPr id="5" name="Text 3"/>
          <p:cNvSpPr/>
          <p:nvPr/>
        </p:nvSpPr>
        <p:spPr>
          <a:xfrm>
            <a:off x="621792" y="1399032"/>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417320" y="1252728"/>
            <a:ext cx="7178040" cy="347472"/>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Build a prepayment scoring layer</a:t>
            </a:r>
            <a:endParaRPr lang="en-US" sz="1300" dirty="0"/>
          </a:p>
        </p:txBody>
      </p:sp>
      <p:sp>
        <p:nvSpPr>
          <p:cNvPr id="7" name="Text 5"/>
          <p:cNvSpPr/>
          <p:nvPr/>
        </p:nvSpPr>
        <p:spPr>
          <a:xfrm>
            <a:off x="1417320" y="1618488"/>
            <a:ext cx="7178040" cy="594360"/>
          </a:xfrm>
          <a:prstGeom prst="rect">
            <a:avLst/>
          </a:prstGeom>
          <a:noFill/>
          <a:ln/>
        </p:spPr>
        <p:txBody>
          <a:bodyPr wrap="square" lIns="0" tIns="0" rIns="0" bIns="0" rtlCol="0" anchor="ctr"/>
          <a:lstStyle/>
          <a:p>
            <a:pPr indent="0" marL="0">
              <a:lnSpc>
                <a:spcPct val="125000"/>
              </a:lnSpc>
              <a:buNone/>
            </a:pPr>
            <a:r>
              <a:rPr lang="en-US" sz="1050" dirty="0">
                <a:solidFill>
                  <a:srgbClr val="64748B"/>
                </a:solidFill>
                <a:latin typeface="Calibri" pitchFamily="34" charset="0"/>
                <a:ea typeface="Calibri" pitchFamily="34" charset="-122"/>
                <a:cs typeface="Calibri" pitchFamily="34" charset="-120"/>
              </a:rPr>
              <a:t>Score every claim before payment releases. A 200-tree Isolation Forest on contextual billing features processes 10,000 records in seconds. The hard part is integration — the payoff is moving from cost recovery to cost prevention.</a:t>
            </a:r>
            <a:endParaRPr lang="en-US" sz="1050" dirty="0"/>
          </a:p>
        </p:txBody>
      </p:sp>
      <p:sp>
        <p:nvSpPr>
          <p:cNvPr id="8" name="Shape 6"/>
          <p:cNvSpPr/>
          <p:nvPr/>
        </p:nvSpPr>
        <p:spPr>
          <a:xfrm>
            <a:off x="457200" y="2441448"/>
            <a:ext cx="8275320" cy="1161288"/>
          </a:xfrm>
          <a:prstGeom prst="roundRect">
            <a:avLst>
              <a:gd name="adj" fmla="val 9449"/>
            </a:avLst>
          </a:prstGeom>
          <a:solidFill>
            <a:srgbClr val="FFFFFF"/>
          </a:solidFill>
          <a:ln/>
          <a:effectLst>
            <a:outerShdw sx="100000" sy="100000" kx="0" ky="0" algn="bl" rotWithShape="0" blurRad="101600" dist="25400" dir="2700000">
              <a:srgbClr val="000000">
                <a:alpha val="10000"/>
              </a:srgbClr>
            </a:outerShdw>
          </a:effectLst>
        </p:spPr>
      </p:sp>
      <p:sp>
        <p:nvSpPr>
          <p:cNvPr id="9" name="Shape 7"/>
          <p:cNvSpPr/>
          <p:nvPr/>
        </p:nvSpPr>
        <p:spPr>
          <a:xfrm>
            <a:off x="621792" y="2697480"/>
            <a:ext cx="640080" cy="640080"/>
          </a:xfrm>
          <a:prstGeom prst="ellipse">
            <a:avLst/>
          </a:prstGeom>
          <a:solidFill>
            <a:srgbClr val="1C7293"/>
          </a:solidFill>
          <a:ln w="12700">
            <a:solidFill>
              <a:srgbClr val="1C7293"/>
            </a:solidFill>
            <a:prstDash val="solid"/>
          </a:ln>
        </p:spPr>
      </p:sp>
      <p:sp>
        <p:nvSpPr>
          <p:cNvPr id="10" name="Text 8"/>
          <p:cNvSpPr/>
          <p:nvPr/>
        </p:nvSpPr>
        <p:spPr>
          <a:xfrm>
            <a:off x="621792" y="2697480"/>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1417320" y="2551176"/>
            <a:ext cx="7178040" cy="347472"/>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Pair every flag with a SHAP explanation</a:t>
            </a:r>
            <a:endParaRPr lang="en-US" sz="1300" dirty="0"/>
          </a:p>
        </p:txBody>
      </p:sp>
      <p:sp>
        <p:nvSpPr>
          <p:cNvPr id="12" name="Text 10"/>
          <p:cNvSpPr/>
          <p:nvPr/>
        </p:nvSpPr>
        <p:spPr>
          <a:xfrm>
            <a:off x="1417320" y="2916936"/>
            <a:ext cx="7178040" cy="594360"/>
          </a:xfrm>
          <a:prstGeom prst="rect">
            <a:avLst/>
          </a:prstGeom>
          <a:noFill/>
          <a:ln/>
        </p:spPr>
        <p:txBody>
          <a:bodyPr wrap="square" lIns="0" tIns="0" rIns="0" bIns="0" rtlCol="0" anchor="ctr"/>
          <a:lstStyle/>
          <a:p>
            <a:pPr indent="0" marL="0">
              <a:lnSpc>
                <a:spcPct val="125000"/>
              </a:lnSpc>
              <a:buNone/>
            </a:pPr>
            <a:r>
              <a:rPr lang="en-US" sz="1050" dirty="0">
                <a:solidFill>
                  <a:srgbClr val="64748B"/>
                </a:solidFill>
                <a:latin typeface="Calibri" pitchFamily="34" charset="0"/>
                <a:ea typeface="Calibri" pitchFamily="34" charset="-122"/>
                <a:cs typeface="Calibri" pitchFamily="34" charset="-120"/>
              </a:rPr>
              <a:t>Each flagged claim arrives with a plain-English rationale: "Billing of $24,300 for arthritis under Aetna is 4.1 standard deviations above expected." That's something a reviewer can act on — and a compliance team can document.</a:t>
            </a:r>
            <a:endParaRPr lang="en-US" sz="1050" dirty="0"/>
          </a:p>
        </p:txBody>
      </p:sp>
      <p:sp>
        <p:nvSpPr>
          <p:cNvPr id="13" name="Shape 11"/>
          <p:cNvSpPr/>
          <p:nvPr/>
        </p:nvSpPr>
        <p:spPr>
          <a:xfrm>
            <a:off x="457200" y="3739896"/>
            <a:ext cx="8275320" cy="1161288"/>
          </a:xfrm>
          <a:prstGeom prst="roundRect">
            <a:avLst>
              <a:gd name="adj" fmla="val 9449"/>
            </a:avLst>
          </a:prstGeom>
          <a:solidFill>
            <a:srgbClr val="FFFFFF"/>
          </a:solidFill>
          <a:ln/>
          <a:effectLst>
            <a:outerShdw sx="100000" sy="100000" kx="0" ky="0" algn="bl" rotWithShape="0" blurRad="101600" dist="25400" dir="2700000">
              <a:srgbClr val="000000">
                <a:alpha val="10000"/>
              </a:srgbClr>
            </a:outerShdw>
          </a:effectLst>
        </p:spPr>
      </p:sp>
      <p:sp>
        <p:nvSpPr>
          <p:cNvPr id="14" name="Shape 12"/>
          <p:cNvSpPr/>
          <p:nvPr/>
        </p:nvSpPr>
        <p:spPr>
          <a:xfrm>
            <a:off x="621792" y="3995928"/>
            <a:ext cx="640080" cy="640080"/>
          </a:xfrm>
          <a:prstGeom prst="ellipse">
            <a:avLst/>
          </a:prstGeom>
          <a:solidFill>
            <a:srgbClr val="02C39A"/>
          </a:solidFill>
          <a:ln w="12700">
            <a:solidFill>
              <a:srgbClr val="02C39A"/>
            </a:solidFill>
            <a:prstDash val="solid"/>
          </a:ln>
        </p:spPr>
      </p:sp>
      <p:sp>
        <p:nvSpPr>
          <p:cNvPr id="15" name="Text 13"/>
          <p:cNvSpPr/>
          <p:nvPr/>
        </p:nvSpPr>
        <p:spPr>
          <a:xfrm>
            <a:off x="621792" y="3995928"/>
            <a:ext cx="640080" cy="6400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6" name="Text 14"/>
          <p:cNvSpPr/>
          <p:nvPr/>
        </p:nvSpPr>
        <p:spPr>
          <a:xfrm>
            <a:off x="1417320" y="3849624"/>
            <a:ext cx="7178040" cy="347472"/>
          </a:xfrm>
          <a:prstGeom prst="rect">
            <a:avLst/>
          </a:prstGeom>
          <a:noFill/>
          <a:ln/>
        </p:spPr>
        <p:txBody>
          <a:bodyPr wrap="square" lIns="0" tIns="0" rIns="0" bIns="0" rtlCol="0" anchor="ctr"/>
          <a:lstStyle/>
          <a:p>
            <a:pPr indent="0" marL="0">
              <a:buNone/>
            </a:pPr>
            <a:r>
              <a:rPr lang="en-US" sz="1300" b="1" dirty="0">
                <a:solidFill>
                  <a:srgbClr val="0A1628"/>
                </a:solidFill>
                <a:latin typeface="Calibri" pitchFamily="34" charset="0"/>
                <a:ea typeface="Calibri" pitchFamily="34" charset="-122"/>
                <a:cs typeface="Calibri" pitchFamily="34" charset="-120"/>
              </a:rPr>
              <a:t>Turn the heatmap into a client intelligence product</a:t>
            </a:r>
            <a:endParaRPr lang="en-US" sz="1300" dirty="0"/>
          </a:p>
        </p:txBody>
      </p:sp>
      <p:sp>
        <p:nvSpPr>
          <p:cNvPr id="17" name="Text 15"/>
          <p:cNvSpPr/>
          <p:nvPr/>
        </p:nvSpPr>
        <p:spPr>
          <a:xfrm>
            <a:off x="1417320" y="4215384"/>
            <a:ext cx="7178040" cy="594360"/>
          </a:xfrm>
          <a:prstGeom prst="rect">
            <a:avLst/>
          </a:prstGeom>
          <a:noFill/>
          <a:ln/>
        </p:spPr>
        <p:txBody>
          <a:bodyPr wrap="square" lIns="0" tIns="0" rIns="0" bIns="0" rtlCol="0" anchor="ctr"/>
          <a:lstStyle/>
          <a:p>
            <a:pPr indent="0" marL="0">
              <a:lnSpc>
                <a:spcPct val="125000"/>
              </a:lnSpc>
              <a:buNone/>
            </a:pPr>
            <a:r>
              <a:rPr lang="en-US" sz="1050" dirty="0">
                <a:solidFill>
                  <a:srgbClr val="64748B"/>
                </a:solidFill>
                <a:latin typeface="Calibri" pitchFamily="34" charset="0"/>
                <a:ea typeface="Calibri" pitchFamily="34" charset="-122"/>
                <a:cs typeface="Calibri" pitchFamily="34" charset="-120"/>
              </a:rPr>
              <a:t>Insurer-level anomaly rates tell a story independent of individual claims. Surface that as a live dashboard for health plan clients — an early-warning system for emerging fraud patterns. That's the shift from audit service to intelligence platform.</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548640" y="320040"/>
            <a:ext cx="8046720" cy="594360"/>
          </a:xfrm>
          <a:prstGeom prst="rect">
            <a:avLst/>
          </a:prstGeom>
          <a:noFill/>
          <a:ln/>
        </p:spPr>
        <p:txBody>
          <a:bodyPr wrap="square" rtlCol="0" anchor="ctr"/>
          <a:lstStyle/>
          <a:p>
            <a:pPr indent="0" marL="0">
              <a:buNone/>
            </a:pPr>
            <a:r>
              <a:rPr lang="en-US" sz="3400" b="1" dirty="0">
                <a:solidFill>
                  <a:srgbClr val="0A1628"/>
                </a:solidFill>
                <a:latin typeface="Cambria" pitchFamily="34" charset="0"/>
                <a:ea typeface="Cambria" pitchFamily="34" charset="-122"/>
                <a:cs typeface="Cambria" pitchFamily="34" charset="-120"/>
              </a:rPr>
              <a:t>The Proof-of-Concept — Live Demo</a:t>
            </a:r>
            <a:endParaRPr lang="en-US" sz="3400" dirty="0"/>
          </a:p>
        </p:txBody>
      </p:sp>
      <p:sp>
        <p:nvSpPr>
          <p:cNvPr id="3" name="Shape 1"/>
          <p:cNvSpPr/>
          <p:nvPr/>
        </p:nvSpPr>
        <p:spPr>
          <a:xfrm>
            <a:off x="457200" y="1143000"/>
            <a:ext cx="4160520" cy="804672"/>
          </a:xfrm>
          <a:prstGeom prst="roundRect">
            <a:avLst>
              <a:gd name="adj" fmla="val 11364"/>
            </a:avLst>
          </a:prstGeom>
          <a:solidFill>
            <a:srgbClr val="EBF4FB"/>
          </a:solidFill>
          <a:ln w="6350">
            <a:solidFill>
              <a:srgbClr val="B5D4F4"/>
            </a:solidFill>
            <a:prstDash val="solid"/>
          </a:ln>
        </p:spPr>
      </p:sp>
      <p:sp>
        <p:nvSpPr>
          <p:cNvPr id="4" name="Text 2"/>
          <p:cNvSpPr/>
          <p:nvPr/>
        </p:nvSpPr>
        <p:spPr>
          <a:xfrm>
            <a:off x="594360" y="1234440"/>
            <a:ext cx="1005840" cy="256032"/>
          </a:xfrm>
          <a:prstGeom prst="rect">
            <a:avLst/>
          </a:prstGeom>
          <a:noFill/>
          <a:ln/>
        </p:spPr>
        <p:txBody>
          <a:bodyPr wrap="square" lIns="0" tIns="0" rIns="0" bIns="0" rtlCol="0" anchor="ctr"/>
          <a:lstStyle/>
          <a:p>
            <a:pPr indent="0" marL="0">
              <a:buNone/>
            </a:pPr>
            <a:r>
              <a:rPr lang="en-US" sz="900" b="1" dirty="0">
                <a:solidFill>
                  <a:srgbClr val="065A82"/>
                </a:solidFill>
                <a:latin typeface="Calibri" pitchFamily="34" charset="0"/>
                <a:ea typeface="Calibri" pitchFamily="34" charset="-122"/>
                <a:cs typeface="Calibri" pitchFamily="34" charset="-120"/>
              </a:rPr>
              <a:t>Cell 1–2</a:t>
            </a:r>
            <a:endParaRPr lang="en-US" sz="900" dirty="0"/>
          </a:p>
        </p:txBody>
      </p:sp>
      <p:sp>
        <p:nvSpPr>
          <p:cNvPr id="5" name="Text 3"/>
          <p:cNvSpPr/>
          <p:nvPr/>
        </p:nvSpPr>
        <p:spPr>
          <a:xfrm>
            <a:off x="594360" y="1490472"/>
            <a:ext cx="3840480" cy="384048"/>
          </a:xfrm>
          <a:prstGeom prst="rect">
            <a:avLst/>
          </a:prstGeom>
          <a:noFill/>
          <a:ln/>
        </p:spPr>
        <p:txBody>
          <a:bodyPr wrap="square" lIns="0" tIns="0" rIns="0" bIns="0" rtlCol="0" anchor="ctr"/>
          <a:lstStyle/>
          <a:p>
            <a:pPr indent="0" marL="0">
              <a:lnSpc>
                <a:spcPct val="120000"/>
              </a:lnSpc>
              <a:buNone/>
            </a:pPr>
            <a:r>
              <a:rPr lang="en-US" sz="1050" dirty="0">
                <a:solidFill>
                  <a:srgbClr val="0A1628"/>
                </a:solidFill>
                <a:latin typeface="Calibri" pitchFamily="34" charset="0"/>
                <a:ea typeface="Calibri" pitchFamily="34" charset="-122"/>
                <a:cs typeface="Calibri" pitchFamily="34" charset="-120"/>
              </a:rPr>
              <a:t>Install packages &amp; load Kaggle dataset</a:t>
            </a:r>
            <a:endParaRPr lang="en-US" sz="1050" dirty="0"/>
          </a:p>
        </p:txBody>
      </p:sp>
      <p:sp>
        <p:nvSpPr>
          <p:cNvPr id="6" name="Shape 4"/>
          <p:cNvSpPr/>
          <p:nvPr/>
        </p:nvSpPr>
        <p:spPr>
          <a:xfrm>
            <a:off x="457200" y="2103120"/>
            <a:ext cx="4160520" cy="804672"/>
          </a:xfrm>
          <a:prstGeom prst="roundRect">
            <a:avLst>
              <a:gd name="adj" fmla="val 11364"/>
            </a:avLst>
          </a:prstGeom>
          <a:solidFill>
            <a:srgbClr val="EBF4FB"/>
          </a:solidFill>
          <a:ln w="6350">
            <a:solidFill>
              <a:srgbClr val="B5D4F4"/>
            </a:solidFill>
            <a:prstDash val="solid"/>
          </a:ln>
        </p:spPr>
      </p:sp>
      <p:sp>
        <p:nvSpPr>
          <p:cNvPr id="7" name="Text 5"/>
          <p:cNvSpPr/>
          <p:nvPr/>
        </p:nvSpPr>
        <p:spPr>
          <a:xfrm>
            <a:off x="594360" y="2194560"/>
            <a:ext cx="1005840" cy="256032"/>
          </a:xfrm>
          <a:prstGeom prst="rect">
            <a:avLst/>
          </a:prstGeom>
          <a:noFill/>
          <a:ln/>
        </p:spPr>
        <p:txBody>
          <a:bodyPr wrap="square" lIns="0" tIns="0" rIns="0" bIns="0" rtlCol="0" anchor="ctr"/>
          <a:lstStyle/>
          <a:p>
            <a:pPr indent="0" marL="0">
              <a:buNone/>
            </a:pPr>
            <a:r>
              <a:rPr lang="en-US" sz="900" b="1" dirty="0">
                <a:solidFill>
                  <a:srgbClr val="065A82"/>
                </a:solidFill>
                <a:latin typeface="Calibri" pitchFamily="34" charset="0"/>
                <a:ea typeface="Calibri" pitchFamily="34" charset="-122"/>
                <a:cs typeface="Calibri" pitchFamily="34" charset="-120"/>
              </a:rPr>
              <a:t>Cell 3</a:t>
            </a:r>
            <a:endParaRPr lang="en-US" sz="900" dirty="0"/>
          </a:p>
        </p:txBody>
      </p:sp>
      <p:sp>
        <p:nvSpPr>
          <p:cNvPr id="8" name="Text 6"/>
          <p:cNvSpPr/>
          <p:nvPr/>
        </p:nvSpPr>
        <p:spPr>
          <a:xfrm>
            <a:off x="594360" y="2450592"/>
            <a:ext cx="3840480" cy="384048"/>
          </a:xfrm>
          <a:prstGeom prst="rect">
            <a:avLst/>
          </a:prstGeom>
          <a:noFill/>
          <a:ln/>
        </p:spPr>
        <p:txBody>
          <a:bodyPr wrap="square" lIns="0" tIns="0" rIns="0" bIns="0" rtlCol="0" anchor="ctr"/>
          <a:lstStyle/>
          <a:p>
            <a:pPr indent="0" marL="0">
              <a:lnSpc>
                <a:spcPct val="120000"/>
              </a:lnSpc>
              <a:buNone/>
            </a:pPr>
            <a:r>
              <a:rPr lang="en-US" sz="1050" dirty="0">
                <a:solidFill>
                  <a:srgbClr val="0A1628"/>
                </a:solidFill>
                <a:latin typeface="Calibri" pitchFamily="34" charset="0"/>
                <a:ea typeface="Calibri" pitchFamily="34" charset="-122"/>
                <a:cs typeface="Calibri" pitchFamily="34" charset="-120"/>
              </a:rPr>
              <a:t>EDA — shape, nulls, insurer breakdown, billing stats</a:t>
            </a:r>
            <a:endParaRPr lang="en-US" sz="1050" dirty="0"/>
          </a:p>
        </p:txBody>
      </p:sp>
      <p:sp>
        <p:nvSpPr>
          <p:cNvPr id="9" name="Shape 7"/>
          <p:cNvSpPr/>
          <p:nvPr/>
        </p:nvSpPr>
        <p:spPr>
          <a:xfrm>
            <a:off x="457200" y="3063240"/>
            <a:ext cx="4160520" cy="804672"/>
          </a:xfrm>
          <a:prstGeom prst="roundRect">
            <a:avLst>
              <a:gd name="adj" fmla="val 11364"/>
            </a:avLst>
          </a:prstGeom>
          <a:solidFill>
            <a:srgbClr val="EBF4FB"/>
          </a:solidFill>
          <a:ln w="6350">
            <a:solidFill>
              <a:srgbClr val="B5D4F4"/>
            </a:solidFill>
            <a:prstDash val="solid"/>
          </a:ln>
        </p:spPr>
      </p:sp>
      <p:sp>
        <p:nvSpPr>
          <p:cNvPr id="10" name="Text 8"/>
          <p:cNvSpPr/>
          <p:nvPr/>
        </p:nvSpPr>
        <p:spPr>
          <a:xfrm>
            <a:off x="594360" y="3154680"/>
            <a:ext cx="1005840" cy="256032"/>
          </a:xfrm>
          <a:prstGeom prst="rect">
            <a:avLst/>
          </a:prstGeom>
          <a:noFill/>
          <a:ln/>
        </p:spPr>
        <p:txBody>
          <a:bodyPr wrap="square" lIns="0" tIns="0" rIns="0" bIns="0" rtlCol="0" anchor="ctr"/>
          <a:lstStyle/>
          <a:p>
            <a:pPr indent="0" marL="0">
              <a:buNone/>
            </a:pPr>
            <a:r>
              <a:rPr lang="en-US" sz="900" b="1" dirty="0">
                <a:solidFill>
                  <a:srgbClr val="065A82"/>
                </a:solidFill>
                <a:latin typeface="Calibri" pitchFamily="34" charset="0"/>
                <a:ea typeface="Calibri" pitchFamily="34" charset="-122"/>
                <a:cs typeface="Calibri" pitchFamily="34" charset="-120"/>
              </a:rPr>
              <a:t>Cell 4</a:t>
            </a:r>
            <a:endParaRPr lang="en-US" sz="900" dirty="0"/>
          </a:p>
        </p:txBody>
      </p:sp>
      <p:sp>
        <p:nvSpPr>
          <p:cNvPr id="11" name="Text 9"/>
          <p:cNvSpPr/>
          <p:nvPr/>
        </p:nvSpPr>
        <p:spPr>
          <a:xfrm>
            <a:off x="594360" y="3410712"/>
            <a:ext cx="3840480" cy="384048"/>
          </a:xfrm>
          <a:prstGeom prst="rect">
            <a:avLst/>
          </a:prstGeom>
          <a:noFill/>
          <a:ln/>
        </p:spPr>
        <p:txBody>
          <a:bodyPr wrap="square" lIns="0" tIns="0" rIns="0" bIns="0" rtlCol="0" anchor="ctr"/>
          <a:lstStyle/>
          <a:p>
            <a:pPr indent="0" marL="0">
              <a:lnSpc>
                <a:spcPct val="120000"/>
              </a:lnSpc>
              <a:buNone/>
            </a:pPr>
            <a:r>
              <a:rPr lang="en-US" sz="1050" dirty="0">
                <a:solidFill>
                  <a:srgbClr val="0A1628"/>
                </a:solidFill>
                <a:latin typeface="Calibri" pitchFamily="34" charset="0"/>
                <a:ea typeface="Calibri" pitchFamily="34" charset="-122"/>
                <a:cs typeface="Calibri" pitchFamily="34" charset="-120"/>
              </a:rPr>
              <a:t>Feature engineering — z-score, ratio, LOS, encode categoricals</a:t>
            </a:r>
            <a:endParaRPr lang="en-US" sz="1050" dirty="0"/>
          </a:p>
        </p:txBody>
      </p:sp>
      <p:sp>
        <p:nvSpPr>
          <p:cNvPr id="12" name="Shape 10"/>
          <p:cNvSpPr/>
          <p:nvPr/>
        </p:nvSpPr>
        <p:spPr>
          <a:xfrm>
            <a:off x="457200" y="4023360"/>
            <a:ext cx="4160520" cy="804672"/>
          </a:xfrm>
          <a:prstGeom prst="roundRect">
            <a:avLst>
              <a:gd name="adj" fmla="val 11364"/>
            </a:avLst>
          </a:prstGeom>
          <a:solidFill>
            <a:srgbClr val="EBF4FB"/>
          </a:solidFill>
          <a:ln w="6350">
            <a:solidFill>
              <a:srgbClr val="B5D4F4"/>
            </a:solidFill>
            <a:prstDash val="solid"/>
          </a:ln>
        </p:spPr>
      </p:sp>
      <p:sp>
        <p:nvSpPr>
          <p:cNvPr id="13" name="Text 11"/>
          <p:cNvSpPr/>
          <p:nvPr/>
        </p:nvSpPr>
        <p:spPr>
          <a:xfrm>
            <a:off x="594360" y="4114800"/>
            <a:ext cx="1005840" cy="256032"/>
          </a:xfrm>
          <a:prstGeom prst="rect">
            <a:avLst/>
          </a:prstGeom>
          <a:noFill/>
          <a:ln/>
        </p:spPr>
        <p:txBody>
          <a:bodyPr wrap="square" lIns="0" tIns="0" rIns="0" bIns="0" rtlCol="0" anchor="ctr"/>
          <a:lstStyle/>
          <a:p>
            <a:pPr indent="0" marL="0">
              <a:buNone/>
            </a:pPr>
            <a:r>
              <a:rPr lang="en-US" sz="900" b="1" dirty="0">
                <a:solidFill>
                  <a:srgbClr val="065A82"/>
                </a:solidFill>
                <a:latin typeface="Calibri" pitchFamily="34" charset="0"/>
                <a:ea typeface="Calibri" pitchFamily="34" charset="-122"/>
                <a:cs typeface="Calibri" pitchFamily="34" charset="-120"/>
              </a:rPr>
              <a:t>Cell 5</a:t>
            </a:r>
            <a:endParaRPr lang="en-US" sz="900" dirty="0"/>
          </a:p>
        </p:txBody>
      </p:sp>
      <p:sp>
        <p:nvSpPr>
          <p:cNvPr id="14" name="Text 12"/>
          <p:cNvSpPr/>
          <p:nvPr/>
        </p:nvSpPr>
        <p:spPr>
          <a:xfrm>
            <a:off x="594360" y="4370832"/>
            <a:ext cx="3840480" cy="384048"/>
          </a:xfrm>
          <a:prstGeom prst="rect">
            <a:avLst/>
          </a:prstGeom>
          <a:noFill/>
          <a:ln/>
        </p:spPr>
        <p:txBody>
          <a:bodyPr wrap="square" lIns="0" tIns="0" rIns="0" bIns="0" rtlCol="0" anchor="ctr"/>
          <a:lstStyle/>
          <a:p>
            <a:pPr indent="0" marL="0">
              <a:lnSpc>
                <a:spcPct val="120000"/>
              </a:lnSpc>
              <a:buNone/>
            </a:pPr>
            <a:r>
              <a:rPr lang="en-US" sz="1050" dirty="0">
                <a:solidFill>
                  <a:srgbClr val="0A1628"/>
                </a:solidFill>
                <a:latin typeface="Calibri" pitchFamily="34" charset="0"/>
                <a:ea typeface="Calibri" pitchFamily="34" charset="-122"/>
                <a:cs typeface="Calibri" pitchFamily="34" charset="-120"/>
              </a:rPr>
              <a:t>Isolation Forest — fit, predict, score, anomaly table</a:t>
            </a:r>
            <a:endParaRPr lang="en-US" sz="1050" dirty="0"/>
          </a:p>
        </p:txBody>
      </p:sp>
      <p:sp>
        <p:nvSpPr>
          <p:cNvPr id="15" name="Shape 13"/>
          <p:cNvSpPr/>
          <p:nvPr/>
        </p:nvSpPr>
        <p:spPr>
          <a:xfrm>
            <a:off x="4846320" y="1143000"/>
            <a:ext cx="4160520" cy="804672"/>
          </a:xfrm>
          <a:prstGeom prst="roundRect">
            <a:avLst>
              <a:gd name="adj" fmla="val 11364"/>
            </a:avLst>
          </a:prstGeom>
          <a:solidFill>
            <a:srgbClr val="F0FBF7"/>
          </a:solidFill>
          <a:ln w="6350">
            <a:solidFill>
              <a:srgbClr val="9FE1CB"/>
            </a:solidFill>
            <a:prstDash val="solid"/>
          </a:ln>
        </p:spPr>
      </p:sp>
      <p:sp>
        <p:nvSpPr>
          <p:cNvPr id="16" name="Text 14"/>
          <p:cNvSpPr/>
          <p:nvPr/>
        </p:nvSpPr>
        <p:spPr>
          <a:xfrm>
            <a:off x="4983480" y="1234440"/>
            <a:ext cx="1005840" cy="256032"/>
          </a:xfrm>
          <a:prstGeom prst="rect">
            <a:avLst/>
          </a:prstGeom>
          <a:noFill/>
          <a:ln/>
        </p:spPr>
        <p:txBody>
          <a:bodyPr wrap="square" lIns="0" tIns="0" rIns="0" bIns="0" rtlCol="0" anchor="ctr"/>
          <a:lstStyle/>
          <a:p>
            <a:pPr indent="0" marL="0">
              <a:buNone/>
            </a:pPr>
            <a:r>
              <a:rPr lang="en-US" sz="900" b="1" dirty="0">
                <a:solidFill>
                  <a:srgbClr val="1C7293"/>
                </a:solidFill>
                <a:latin typeface="Calibri" pitchFamily="34" charset="0"/>
                <a:ea typeface="Calibri" pitchFamily="34" charset="-122"/>
                <a:cs typeface="Calibri" pitchFamily="34" charset="-120"/>
              </a:rPr>
              <a:t>Cell 6–9</a:t>
            </a:r>
            <a:endParaRPr lang="en-US" sz="900" dirty="0"/>
          </a:p>
        </p:txBody>
      </p:sp>
      <p:sp>
        <p:nvSpPr>
          <p:cNvPr id="17" name="Text 15"/>
          <p:cNvSpPr/>
          <p:nvPr/>
        </p:nvSpPr>
        <p:spPr>
          <a:xfrm>
            <a:off x="4983480" y="1490472"/>
            <a:ext cx="3840480" cy="384048"/>
          </a:xfrm>
          <a:prstGeom prst="rect">
            <a:avLst/>
          </a:prstGeom>
          <a:noFill/>
          <a:ln/>
        </p:spPr>
        <p:txBody>
          <a:bodyPr wrap="square" lIns="0" tIns="0" rIns="0" bIns="0" rtlCol="0" anchor="ctr"/>
          <a:lstStyle/>
          <a:p>
            <a:pPr indent="0" marL="0">
              <a:lnSpc>
                <a:spcPct val="120000"/>
              </a:lnSpc>
              <a:buNone/>
            </a:pPr>
            <a:r>
              <a:rPr lang="en-US" sz="1050" dirty="0">
                <a:solidFill>
                  <a:srgbClr val="0A1628"/>
                </a:solidFill>
                <a:latin typeface="Calibri" pitchFamily="34" charset="0"/>
                <a:ea typeface="Calibri" pitchFamily="34" charset="-122"/>
                <a:cs typeface="Calibri" pitchFamily="34" charset="-120"/>
              </a:rPr>
              <a:t>Plotly visualizations — scatter, bar, box, time-series</a:t>
            </a:r>
            <a:endParaRPr lang="en-US" sz="1050" dirty="0"/>
          </a:p>
        </p:txBody>
      </p:sp>
      <p:sp>
        <p:nvSpPr>
          <p:cNvPr id="18" name="Shape 16"/>
          <p:cNvSpPr/>
          <p:nvPr/>
        </p:nvSpPr>
        <p:spPr>
          <a:xfrm>
            <a:off x="4846320" y="2103120"/>
            <a:ext cx="4160520" cy="804672"/>
          </a:xfrm>
          <a:prstGeom prst="roundRect">
            <a:avLst>
              <a:gd name="adj" fmla="val 11364"/>
            </a:avLst>
          </a:prstGeom>
          <a:solidFill>
            <a:srgbClr val="F0FBF7"/>
          </a:solidFill>
          <a:ln w="6350">
            <a:solidFill>
              <a:srgbClr val="9FE1CB"/>
            </a:solidFill>
            <a:prstDash val="solid"/>
          </a:ln>
        </p:spPr>
      </p:sp>
      <p:sp>
        <p:nvSpPr>
          <p:cNvPr id="19" name="Text 17"/>
          <p:cNvSpPr/>
          <p:nvPr/>
        </p:nvSpPr>
        <p:spPr>
          <a:xfrm>
            <a:off x="4983480" y="2194560"/>
            <a:ext cx="1005840" cy="256032"/>
          </a:xfrm>
          <a:prstGeom prst="rect">
            <a:avLst/>
          </a:prstGeom>
          <a:noFill/>
          <a:ln/>
        </p:spPr>
        <p:txBody>
          <a:bodyPr wrap="square" lIns="0" tIns="0" rIns="0" bIns="0" rtlCol="0" anchor="ctr"/>
          <a:lstStyle/>
          <a:p>
            <a:pPr indent="0" marL="0">
              <a:buNone/>
            </a:pPr>
            <a:r>
              <a:rPr lang="en-US" sz="900" b="1" dirty="0">
                <a:solidFill>
                  <a:srgbClr val="1C7293"/>
                </a:solidFill>
                <a:latin typeface="Calibri" pitchFamily="34" charset="0"/>
                <a:ea typeface="Calibri" pitchFamily="34" charset="-122"/>
                <a:cs typeface="Calibri" pitchFamily="34" charset="-120"/>
              </a:rPr>
              <a:t>Cell 10–14</a:t>
            </a:r>
            <a:endParaRPr lang="en-US" sz="900" dirty="0"/>
          </a:p>
        </p:txBody>
      </p:sp>
      <p:sp>
        <p:nvSpPr>
          <p:cNvPr id="20" name="Text 18"/>
          <p:cNvSpPr/>
          <p:nvPr/>
        </p:nvSpPr>
        <p:spPr>
          <a:xfrm>
            <a:off x="4983480" y="2450592"/>
            <a:ext cx="3840480" cy="384048"/>
          </a:xfrm>
          <a:prstGeom prst="rect">
            <a:avLst/>
          </a:prstGeom>
          <a:noFill/>
          <a:ln/>
        </p:spPr>
        <p:txBody>
          <a:bodyPr wrap="square" lIns="0" tIns="0" rIns="0" bIns="0" rtlCol="0" anchor="ctr"/>
          <a:lstStyle/>
          <a:p>
            <a:pPr indent="0" marL="0">
              <a:lnSpc>
                <a:spcPct val="120000"/>
              </a:lnSpc>
              <a:buNone/>
            </a:pPr>
            <a:r>
              <a:rPr lang="en-US" sz="1050" dirty="0">
                <a:solidFill>
                  <a:srgbClr val="0A1628"/>
                </a:solidFill>
                <a:latin typeface="Calibri" pitchFamily="34" charset="0"/>
                <a:ea typeface="Calibri" pitchFamily="34" charset="-122"/>
                <a:cs typeface="Calibri" pitchFamily="34" charset="-120"/>
              </a:rPr>
              <a:t>Add-ons — heatmap, financial impact, deep-dive per insurer</a:t>
            </a:r>
            <a:endParaRPr lang="en-US" sz="1050" dirty="0"/>
          </a:p>
        </p:txBody>
      </p:sp>
      <p:sp>
        <p:nvSpPr>
          <p:cNvPr id="21" name="Shape 19"/>
          <p:cNvSpPr/>
          <p:nvPr/>
        </p:nvSpPr>
        <p:spPr>
          <a:xfrm>
            <a:off x="4846320" y="3063240"/>
            <a:ext cx="4160520" cy="804672"/>
          </a:xfrm>
          <a:prstGeom prst="roundRect">
            <a:avLst>
              <a:gd name="adj" fmla="val 11364"/>
            </a:avLst>
          </a:prstGeom>
          <a:solidFill>
            <a:srgbClr val="F0FBF7"/>
          </a:solidFill>
          <a:ln w="6350">
            <a:solidFill>
              <a:srgbClr val="9FE1CB"/>
            </a:solidFill>
            <a:prstDash val="solid"/>
          </a:ln>
        </p:spPr>
      </p:sp>
      <p:sp>
        <p:nvSpPr>
          <p:cNvPr id="22" name="Text 20"/>
          <p:cNvSpPr/>
          <p:nvPr/>
        </p:nvSpPr>
        <p:spPr>
          <a:xfrm>
            <a:off x="4983480" y="3154680"/>
            <a:ext cx="1005840" cy="256032"/>
          </a:xfrm>
          <a:prstGeom prst="rect">
            <a:avLst/>
          </a:prstGeom>
          <a:noFill/>
          <a:ln/>
        </p:spPr>
        <p:txBody>
          <a:bodyPr wrap="square" lIns="0" tIns="0" rIns="0" bIns="0" rtlCol="0" anchor="ctr"/>
          <a:lstStyle/>
          <a:p>
            <a:pPr indent="0" marL="0">
              <a:buNone/>
            </a:pPr>
            <a:r>
              <a:rPr lang="en-US" sz="900" b="1" dirty="0">
                <a:solidFill>
                  <a:srgbClr val="1C7293"/>
                </a:solidFill>
                <a:latin typeface="Calibri" pitchFamily="34" charset="0"/>
                <a:ea typeface="Calibri" pitchFamily="34" charset="-122"/>
                <a:cs typeface="Calibri" pitchFamily="34" charset="-120"/>
              </a:rPr>
              <a:t>Cell 8</a:t>
            </a:r>
            <a:endParaRPr lang="en-US" sz="900" dirty="0"/>
          </a:p>
        </p:txBody>
      </p:sp>
      <p:sp>
        <p:nvSpPr>
          <p:cNvPr id="23" name="Text 21"/>
          <p:cNvSpPr/>
          <p:nvPr/>
        </p:nvSpPr>
        <p:spPr>
          <a:xfrm>
            <a:off x="4983480" y="3410712"/>
            <a:ext cx="3840480" cy="384048"/>
          </a:xfrm>
          <a:prstGeom prst="rect">
            <a:avLst/>
          </a:prstGeom>
          <a:noFill/>
          <a:ln/>
        </p:spPr>
        <p:txBody>
          <a:bodyPr wrap="square" lIns="0" tIns="0" rIns="0" bIns="0" rtlCol="0" anchor="ctr"/>
          <a:lstStyle/>
          <a:p>
            <a:pPr indent="0" marL="0">
              <a:lnSpc>
                <a:spcPct val="120000"/>
              </a:lnSpc>
              <a:buNone/>
            </a:pPr>
            <a:r>
              <a:rPr lang="en-US" sz="1050" dirty="0">
                <a:solidFill>
                  <a:srgbClr val="0A1628"/>
                </a:solidFill>
                <a:latin typeface="Calibri" pitchFamily="34" charset="0"/>
                <a:ea typeface="Calibri" pitchFamily="34" charset="-122"/>
                <a:cs typeface="Calibri" pitchFamily="34" charset="-120"/>
              </a:rPr>
              <a:t>SHAP — feature importance bar + waterfall for top anomaly</a:t>
            </a:r>
            <a:endParaRPr lang="en-US" sz="1050" dirty="0"/>
          </a:p>
        </p:txBody>
      </p:sp>
      <p:sp>
        <p:nvSpPr>
          <p:cNvPr id="24" name="Shape 22"/>
          <p:cNvSpPr/>
          <p:nvPr/>
        </p:nvSpPr>
        <p:spPr>
          <a:xfrm>
            <a:off x="4846320" y="4023360"/>
            <a:ext cx="4160520" cy="804672"/>
          </a:xfrm>
          <a:prstGeom prst="roundRect">
            <a:avLst>
              <a:gd name="adj" fmla="val 11364"/>
            </a:avLst>
          </a:prstGeom>
          <a:solidFill>
            <a:srgbClr val="F0FBF7"/>
          </a:solidFill>
          <a:ln w="6350">
            <a:solidFill>
              <a:srgbClr val="9FE1CB"/>
            </a:solidFill>
            <a:prstDash val="solid"/>
          </a:ln>
        </p:spPr>
      </p:sp>
      <p:sp>
        <p:nvSpPr>
          <p:cNvPr id="25" name="Text 23"/>
          <p:cNvSpPr/>
          <p:nvPr/>
        </p:nvSpPr>
        <p:spPr>
          <a:xfrm>
            <a:off x="4983480" y="4114800"/>
            <a:ext cx="1005840" cy="256032"/>
          </a:xfrm>
          <a:prstGeom prst="rect">
            <a:avLst/>
          </a:prstGeom>
          <a:noFill/>
          <a:ln/>
        </p:spPr>
        <p:txBody>
          <a:bodyPr wrap="square" lIns="0" tIns="0" rIns="0" bIns="0" rtlCol="0" anchor="ctr"/>
          <a:lstStyle/>
          <a:p>
            <a:pPr indent="0" marL="0">
              <a:buNone/>
            </a:pPr>
            <a:r>
              <a:rPr lang="en-US" sz="900" b="1" dirty="0">
                <a:solidFill>
                  <a:srgbClr val="1C7293"/>
                </a:solidFill>
                <a:latin typeface="Calibri" pitchFamily="34" charset="0"/>
                <a:ea typeface="Calibri" pitchFamily="34" charset="-122"/>
                <a:cs typeface="Calibri" pitchFamily="34" charset="-120"/>
              </a:rPr>
              <a:t>Final</a:t>
            </a:r>
            <a:endParaRPr lang="en-US" sz="900" dirty="0"/>
          </a:p>
        </p:txBody>
      </p:sp>
      <p:sp>
        <p:nvSpPr>
          <p:cNvPr id="26" name="Text 24"/>
          <p:cNvSpPr/>
          <p:nvPr/>
        </p:nvSpPr>
        <p:spPr>
          <a:xfrm>
            <a:off x="4983480" y="4370832"/>
            <a:ext cx="3840480" cy="384048"/>
          </a:xfrm>
          <a:prstGeom prst="rect">
            <a:avLst/>
          </a:prstGeom>
          <a:noFill/>
          <a:ln/>
        </p:spPr>
        <p:txBody>
          <a:bodyPr wrap="square" lIns="0" tIns="0" rIns="0" bIns="0" rtlCol="0" anchor="ctr"/>
          <a:lstStyle/>
          <a:p>
            <a:pPr indent="0" marL="0">
              <a:lnSpc>
                <a:spcPct val="120000"/>
              </a:lnSpc>
              <a:buNone/>
            </a:pPr>
            <a:r>
              <a:rPr lang="en-US" sz="1050" dirty="0">
                <a:solidFill>
                  <a:srgbClr val="0A1628"/>
                </a:solidFill>
                <a:latin typeface="Calibri" pitchFamily="34" charset="0"/>
                <a:ea typeface="Calibri" pitchFamily="34" charset="-122"/>
                <a:cs typeface="Calibri" pitchFamily="34" charset="-120"/>
              </a:rPr>
              <a:t>Summary dashboard — all findings in one combined chart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3200400"/>
            <a:ext cx="3200400" cy="3200400"/>
          </a:xfrm>
          <a:prstGeom prst="ellipse">
            <a:avLst/>
          </a:prstGeom>
          <a:solidFill>
            <a:srgbClr val="065A82">
              <a:alpha val="40000"/>
            </a:srgbClr>
          </a:solidFill>
          <a:ln w="12700">
            <a:solidFill>
              <a:srgbClr val="065A82">
                <a:alpha val="40000"/>
              </a:srgbClr>
            </a:solidFill>
            <a:prstDash val="solid"/>
          </a:ln>
        </p:spPr>
      </p:sp>
      <p:sp>
        <p:nvSpPr>
          <p:cNvPr id="3" name="Shape 1"/>
          <p:cNvSpPr/>
          <p:nvPr/>
        </p:nvSpPr>
        <p:spPr>
          <a:xfrm>
            <a:off x="7498080" y="-457200"/>
            <a:ext cx="2560320" cy="2560320"/>
          </a:xfrm>
          <a:prstGeom prst="ellipse">
            <a:avLst/>
          </a:prstGeom>
          <a:solidFill>
            <a:srgbClr val="1C7293">
              <a:alpha val="45000"/>
            </a:srgbClr>
          </a:solidFill>
          <a:ln w="12700">
            <a:solidFill>
              <a:srgbClr val="1C7293">
                <a:alpha val="45000"/>
              </a:srgbClr>
            </a:solidFill>
            <a:prstDash val="solid"/>
          </a:ln>
        </p:spPr>
      </p:sp>
      <p:sp>
        <p:nvSpPr>
          <p:cNvPr id="4" name="Text 2"/>
          <p:cNvSpPr/>
          <p:nvPr/>
        </p:nvSpPr>
        <p:spPr>
          <a:xfrm>
            <a:off x="548640" y="457200"/>
            <a:ext cx="8046720" cy="50292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The Takeaway</a:t>
            </a:r>
            <a:endParaRPr lang="en-US" sz="1300" dirty="0"/>
          </a:p>
        </p:txBody>
      </p:sp>
      <p:sp>
        <p:nvSpPr>
          <p:cNvPr id="5" name="Text 3"/>
          <p:cNvSpPr/>
          <p:nvPr/>
        </p:nvSpPr>
        <p:spPr>
          <a:xfrm>
            <a:off x="548640" y="1005840"/>
            <a:ext cx="8046720" cy="1097280"/>
          </a:xfrm>
          <a:prstGeom prst="rect">
            <a:avLst/>
          </a:prstGeom>
          <a:noFill/>
          <a:ln/>
        </p:spPr>
        <p:txBody>
          <a:bodyPr wrap="square" rtlCol="0" anchor="ctr"/>
          <a:lstStyle/>
          <a:p>
            <a:pPr indent="0" marL="0">
              <a:lnSpc>
                <a:spcPct val="120000"/>
              </a:lnSpc>
              <a:buNone/>
            </a:pPr>
            <a:r>
              <a:rPr lang="en-US" sz="3200" b="1" dirty="0">
                <a:solidFill>
                  <a:srgbClr val="FFFFFF"/>
                </a:solidFill>
                <a:latin typeface="Cambria" pitchFamily="34" charset="0"/>
                <a:ea typeface="Cambria" pitchFamily="34" charset="-122"/>
                <a:cs typeface="Cambria" pitchFamily="34" charset="-120"/>
              </a:rPr>
              <a:t>The anomaly signals are in the data.</a:t>
            </a:r>
            <a:endParaRPr lang="en-US" sz="3200" dirty="0"/>
          </a:p>
          <a:p>
            <a:pPr indent="0" marL="0">
              <a:lnSpc>
                <a:spcPct val="120000"/>
              </a:lnSpc>
              <a:buNone/>
            </a:pPr>
            <a:r>
              <a:rPr lang="en-US" sz="3200" b="1" dirty="0">
                <a:solidFill>
                  <a:srgbClr val="FFFFFF"/>
                </a:solidFill>
                <a:latin typeface="Cambria" pitchFamily="34" charset="0"/>
                <a:ea typeface="Cambria" pitchFamily="34" charset="-122"/>
                <a:cs typeface="Cambria" pitchFamily="34" charset="-120"/>
              </a:rPr>
              <a:t>They're just invisible without the right lens.</a:t>
            </a:r>
            <a:endParaRPr lang="en-US" sz="3200" dirty="0"/>
          </a:p>
        </p:txBody>
      </p:sp>
      <p:sp>
        <p:nvSpPr>
          <p:cNvPr id="6" name="Text 4"/>
          <p:cNvSpPr/>
          <p:nvPr/>
        </p:nvSpPr>
        <p:spPr>
          <a:xfrm>
            <a:off x="548640" y="2240280"/>
            <a:ext cx="7772400" cy="1828800"/>
          </a:xfrm>
          <a:prstGeom prst="rect">
            <a:avLst/>
          </a:prstGeom>
          <a:noFill/>
          <a:ln/>
        </p:spPr>
        <p:txBody>
          <a:bodyPr wrap="square" rtlCol="0" anchor="ctr"/>
          <a:lstStyle/>
          <a:p>
            <a:pPr indent="0" marL="0">
              <a:lnSpc>
                <a:spcPct val="150000"/>
              </a:lnSpc>
              <a:buNone/>
            </a:pPr>
            <a:r>
              <a:rPr lang="en-US" sz="1300" dirty="0">
                <a:solidFill>
                  <a:srgbClr val="A8C4D4"/>
                </a:solidFill>
                <a:latin typeface="Calibri" pitchFamily="34" charset="0"/>
                <a:ea typeface="Calibri" pitchFamily="34" charset="-122"/>
                <a:cs typeface="Calibri" pitchFamily="34" charset="-120"/>
              </a:rPr>
              <a:t>Isolation Forest + SHAP + contextual feature engineering = a deployable, auditable payment integrity system that works without a single fraud label.</a:t>
            </a:r>
            <a:endParaRPr lang="en-US" sz="1300" dirty="0"/>
          </a:p>
          <a:p>
            <a:pPr indent="0" marL="0">
              <a:lnSpc>
                <a:spcPct val="150000"/>
              </a:lnSpc>
              <a:buNone/>
            </a:pPr>
            <a:endParaRPr lang="en-US" sz="1300" dirty="0"/>
          </a:p>
          <a:p>
            <a:pPr indent="0" marL="0">
              <a:lnSpc>
                <a:spcPct val="150000"/>
              </a:lnSpc>
              <a:buNone/>
            </a:pPr>
            <a:r>
              <a:rPr lang="en-US" sz="1300" dirty="0">
                <a:solidFill>
                  <a:srgbClr val="A8C4D4"/>
                </a:solidFill>
                <a:latin typeface="Calibri" pitchFamily="34" charset="0"/>
                <a:ea typeface="Calibri" pitchFamily="34" charset="-122"/>
                <a:cs typeface="Calibri" pitchFamily="34" charset="-120"/>
              </a:rPr>
              <a:t>For Cotiviti, the path forward is clear: move detection upstream, make every flag explainable, and surface insurer-level trends as ongoing intelligence — not a one-time audit output.</a:t>
            </a:r>
            <a:endParaRPr lang="en-US" sz="1300" dirty="0"/>
          </a:p>
        </p:txBody>
      </p:sp>
      <p:sp>
        <p:nvSpPr>
          <p:cNvPr id="7" name="Text 5"/>
          <p:cNvSpPr/>
          <p:nvPr/>
        </p:nvSpPr>
        <p:spPr>
          <a:xfrm>
            <a:off x="548640" y="4480560"/>
            <a:ext cx="8046720" cy="256032"/>
          </a:xfrm>
          <a:prstGeom prst="rect">
            <a:avLst/>
          </a:prstGeom>
          <a:noFill/>
          <a:ln/>
        </p:spPr>
        <p:txBody>
          <a:bodyPr wrap="square" rtlCol="0" anchor="ctr"/>
          <a:lstStyle/>
          <a:p>
            <a:pPr indent="0" marL="0">
              <a:buNone/>
            </a:pPr>
            <a:r>
              <a:rPr lang="en-US" sz="850" dirty="0">
                <a:solidFill>
                  <a:srgbClr val="4A6A7A"/>
                </a:solidFill>
                <a:latin typeface="Calibri" pitchFamily="34" charset="0"/>
                <a:ea typeface="Calibri" pitchFamily="34" charset="-122"/>
                <a:cs typeface="Calibri" pitchFamily="34" charset="-120"/>
              </a:rPr>
              <a:t>Liu et al. (2008)  ·  Lundberg &amp; Lee (2017)  ·  FBI (2024)  ·  DOJ (2024)  ·  Prasad (2023)</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Clinical Decision Making &amp; Pattern Recognition in Healthcare</dc:title>
  <dc:subject>PptxGenJS Presentation</dc:subject>
  <dc:creator>Intern Assessment</dc:creator>
  <cp:lastModifiedBy>Intern Assessment</cp:lastModifiedBy>
  <cp:revision>1</cp:revision>
  <dcterms:created xsi:type="dcterms:W3CDTF">2026-07-04T07:13:53Z</dcterms:created>
  <dcterms:modified xsi:type="dcterms:W3CDTF">2026-07-04T07:13:53Z</dcterms:modified>
</cp:coreProperties>
</file>